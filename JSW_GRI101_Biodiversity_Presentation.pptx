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331720"/>
            <a:ext cx="1164031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02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0CCE8"/>
                </a:solidFill>
              </a:rPr>
              <a:t>JSW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GRI 101: BIODIVERSITY 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B0D4F0"/>
                </a:solidFill>
              </a:rPr>
              <a:t>A Comprehensive Disclosure Framework for Nature-Positive Business Leadership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893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0A8C8"/>
                </a:solidFill>
              </a:rPr>
              <a:t>Prepared by: Sustainability &amp; ESG Strategy  | 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598932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F5A623"/>
                </a:solidFill>
              </a:rPr>
              <a:t>CONFIDENTIAL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5292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  Effective 1 January 2026  |  GRI Topic Standard  |  Aligned with Kunming-Montreal GBF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547872"/>
            <a:ext cx="3200400" cy="1188720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547872"/>
            <a:ext cx="3200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2102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1M+ Species Threatened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251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CE8"/>
                </a:solidFill>
              </a:rPr>
              <a:t>globally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547872"/>
            <a:ext cx="3200400" cy="1188720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547872"/>
            <a:ext cx="3200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62102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50% of Earth's GDP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51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CE8"/>
                </a:solidFill>
              </a:rPr>
              <a:t>depends on nature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3547872"/>
            <a:ext cx="3200400" cy="1188720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3547872"/>
            <a:ext cx="32004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3621024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5A623"/>
                </a:solidFill>
              </a:rPr>
              <a:t>USD 44Tn Value at 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425196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CCE8"/>
                </a:solidFill>
              </a:rPr>
              <a:t>from nature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37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7595"/>
                </a:solidFill>
              </a:rPr>
              <a:t>Sources: IPBES, WEF Global Risks Report 2024, TNFD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2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502920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" y="1417320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23444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The Biodiversity Imperative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167335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Why nature risk is the next frontier of corporate accountability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81927" y="114300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81927" y="1143000"/>
            <a:ext cx="502920" cy="1188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18503" y="1417320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123444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GRI 101 Standard Decoded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76288" y="167335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Eight disclosures, requirements, and the regulatory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46888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2468880"/>
            <a:ext cx="502920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5" y="2743200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25603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JSW's Exposure &amp; Opportunity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99923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Where our operations intersect with critical ecosystems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7" y="246888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81927" y="2468880"/>
            <a:ext cx="502920" cy="1188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18503" y="2743200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256032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The Reporting Framework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76288" y="299923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How the template works — from inputs to narrative disclosure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9476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794760"/>
            <a:ext cx="502920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6615" y="4069080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38862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Implementation Roadmap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2511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Phased approach to achieve GRI 101-ready status by Jan 2026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1927" y="379476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81927" y="3794760"/>
            <a:ext cx="502920" cy="1188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3" y="4069080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76288" y="3886200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Strategic Value Creation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76288" y="432511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Turning compliance into competitive advantage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512064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5120640"/>
            <a:ext cx="502920" cy="118872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5" y="5394959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212079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Key Risks &amp; Mitigation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5099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What could go wrong and how to prevent 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81927" y="5120640"/>
            <a:ext cx="5715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81927" y="5120640"/>
            <a:ext cx="502920" cy="118872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8503" y="5394959"/>
            <a:ext cx="438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288" y="5212079"/>
            <a:ext cx="4983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A2A4A"/>
                </a:solidFill>
              </a:rPr>
              <a:t>Recommendations &amp; Next Steps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288" y="5650992"/>
            <a:ext cx="4983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66666"/>
                </a:solidFill>
              </a:rPr>
              <a:t>Prioritised actions, owners, and quick wins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01  |  The Biodiversity Imperative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Nature loss is now a systemic financial and reputational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557784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5577840" cy="36576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2A4A"/>
                </a:solidFill>
              </a:rPr>
              <a:t>The Regulatory &amp; Market Shift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755648"/>
            <a:ext cx="594360" cy="5486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65376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792224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Kunming-Montreal Global Biodiversity Framework adopted — 196 nations commit to 30x30 target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560320"/>
            <a:ext cx="594360" cy="5486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670048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596896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TNFD Final Recommendations released — nature-related financial disclosures mainstream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64991"/>
            <a:ext cx="594360" cy="5486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474720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401568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GRI 101: Biodiversity standard published — most comprehensive framework to 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169664"/>
            <a:ext cx="594360" cy="5486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279392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20624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GRI 101 becomes effective — mandatory for GRI reporters; ESG raters begin scoring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974336"/>
            <a:ext cx="594360" cy="54864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5084064"/>
            <a:ext cx="594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010912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CBD 2030 Targets — 30% land &amp; ocean protected; halting biodiversity loss legally binding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1143000"/>
            <a:ext cx="5650992" cy="245059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143000"/>
            <a:ext cx="565099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2344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Why JSW Cannot Wait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1691640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-&gt;  JSW Steel is a GRI reporter — GRI 101 applies from FY2026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2075688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-&gt;  SEBI BRSR Core (top 150 listed cos) includes biodiversity KPIs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459736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-&gt;  EU steel buyers requiring supplier nature disclosures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843784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-&gt;  Green financing (JSW USD 1Bn bond) tied to ESG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227832"/>
            <a:ext cx="5166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-&gt;  Sites near ecologically sensitive zones (Western Ghats buffer)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639312"/>
            <a:ext cx="5650992" cy="26426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639312"/>
            <a:ext cx="5650992" cy="36576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730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2A4A"/>
                </a:solidFill>
              </a:rPr>
              <a:t>The Investor Signal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187952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&gt;&gt;  CDP launched Nature questionnaire in 2024 — 4,800 companies responded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663440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&gt;&gt;  BlackRock, Vanguard, State Street voting against cos with no nature strategy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138928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&gt;&gt;  IFC Performance Standard 6 requires biodiversity assessment for new projects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614416"/>
            <a:ext cx="51663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&gt;&gt;  Nature-positive cos attract 20-30% premium on green financing (TNFD 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02  |  GRI 101 Biodiversity 2024 — Standard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Eight disclosures covering the full biodiversity impact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4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115568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GRI 101 is the most comprehensive biodiversity reporting standard to date. It covers policies, management, access &amp; benefit-sharing, impact identification, site-level locations, direct drivers of loss, ecosystem state changes, and ecosystem services.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78308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783080"/>
            <a:ext cx="283464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83794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075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Policies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42316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Commitments to halt &amp; reverse
biodiversity loss; GBF alignment;
SBTn targets &amp;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78308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783080"/>
            <a:ext cx="2834640" cy="53035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01568" y="183794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2075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242316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Mitigation hierarchy (Avoid &gt; Minimize
&gt; Restore &gt; Offset); management
plans; stakeholder safeguards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78308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783080"/>
            <a:ext cx="2834640" cy="5303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183794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2075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Access &amp;
Benefit-Sharing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242316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ABS compliance; Nagoya Protocol;
voluntary benefit-sharing with
indigenous/local communities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78308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783080"/>
            <a:ext cx="283464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45167" y="183794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45167" y="207568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Identification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45167" y="242316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How material sites &amp; supply chain
products were identified; tools
(ENCORE, SBTN, IUCN, TNFD LEAP)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11480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114800"/>
            <a:ext cx="2834640" cy="53035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416966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4407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Locations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75488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Per-site data: proximity to protected
areas, high-integrity ecosystems,
water-stressed zones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1840" y="411480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91840" y="4114800"/>
            <a:ext cx="2834640" cy="53035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01568" y="416966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01568" y="4407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Direct Drivers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01568" y="475488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Land-use change, water use, pollution,
invasive species, wild-species
harvesting — quantified per site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11480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114800"/>
            <a:ext cx="283464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3368" y="416966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73368" y="4407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State of
Biodiversity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73368" y="475488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Ecosystem type, size &amp; condition
change from base year to reporting
period — per site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235440" y="4114800"/>
            <a:ext cx="283464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235440" y="4114800"/>
            <a:ext cx="2834640" cy="53035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45167" y="4169663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101-8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45167" y="440740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0E8FF"/>
                </a:solidFill>
              </a:rPr>
              <a:t>Ecosystem
Services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5167" y="4754880"/>
            <a:ext cx="261518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3333"/>
                </a:solidFill>
              </a:rPr>
              <a:t>Provisioning, regulating &amp; cultural
services affected; beneficiaries;
how impacted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03  |  JSW's Biodiversity Exposure — Preliminary Site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Where our operations intersect with ecologically sensitive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11521440" cy="45720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36576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1887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A4F00"/>
                </a:solidFill>
              </a:rPr>
              <a:t>DISCLAIMER: Preliminary desktop screening. Rigorous TNFD LEAP / SBTN Step 1 assessment required to validate materiality.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09928"/>
            <a:ext cx="187452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1764792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Business Unit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40280" y="1709928"/>
            <a:ext cx="205740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1764792"/>
            <a:ext cx="19202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Key Site(s)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709928"/>
            <a:ext cx="288036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17647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Sensitivity Flags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709928"/>
            <a:ext cx="301752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76479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Primary Drivers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32720" y="1709928"/>
            <a:ext cx="114300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7647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Risk Level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084831"/>
            <a:ext cx="1874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0280" y="2084831"/>
            <a:ext cx="2057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2084831"/>
            <a:ext cx="2880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69480" y="2084831"/>
            <a:ext cx="3017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332720" y="2084831"/>
            <a:ext cx="1143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79" y="212140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JSW Steel (Vijayanagar)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2121408"/>
            <a:ext cx="19202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Karnataka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2103120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Buffer zone Western Ghats UNESCO WH;
High-biodiversity Tungabhadra river basin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2103120"/>
            <a:ext cx="2880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Land use, ~150ML/day water,
air &amp; water pollutants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69880" y="2258568"/>
            <a:ext cx="804672" cy="292608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69880" y="226771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752344"/>
            <a:ext cx="1874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40280" y="2752344"/>
            <a:ext cx="2057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43400" y="2752344"/>
            <a:ext cx="288036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69480" y="2752344"/>
            <a:ext cx="3017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332720" y="2752344"/>
            <a:ext cx="11430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79" y="278892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JSW Steel (Dolvi)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2788920"/>
            <a:ext cx="19202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Maharashtra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2770632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Coastal ecosystem; Ulhas estuary;
CRZ proximity; mangrove adjacency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2770632"/>
            <a:ext cx="2880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Coastal land use, effluent,
dredging, invasive risk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469880" y="2926079"/>
            <a:ext cx="804672" cy="292608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469880" y="293522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3419856"/>
            <a:ext cx="1874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40280" y="3419856"/>
            <a:ext cx="2057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43400" y="3419856"/>
            <a:ext cx="2880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269480" y="3419856"/>
            <a:ext cx="3017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332720" y="3419856"/>
            <a:ext cx="1143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79" y="345643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JSW Steel (Paradip)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31720" y="3456432"/>
            <a:ext cx="19202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Odisha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34840" y="3438144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Chilika Lake Ramsar site ~60 km;
Mangrove coastline corridor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3438144"/>
            <a:ext cx="2880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Port operations, dust,
vessel traffic, stockpiling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69880" y="3593591"/>
            <a:ext cx="804672" cy="292608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69880" y="360273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087368"/>
            <a:ext cx="1874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240280" y="4087368"/>
            <a:ext cx="2057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43400" y="4087368"/>
            <a:ext cx="288036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69480" y="4087368"/>
            <a:ext cx="3017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332720" y="4087368"/>
            <a:ext cx="11430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79" y="4123944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JSW Energy (Hydro/Wind)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1720" y="4123944"/>
            <a:ext cx="19202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Multiple states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34840" y="4105655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Run-of-river hydro; wind farms
in semi-arid grasslands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360920" y="4105655"/>
            <a:ext cx="2880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Hydrological alteration,
bird-strike, fragmentation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469880" y="4261104"/>
            <a:ext cx="804672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469880" y="427024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754879"/>
            <a:ext cx="1874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40280" y="4754879"/>
            <a:ext cx="2057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43400" y="4754879"/>
            <a:ext cx="288036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269480" y="4754879"/>
            <a:ext cx="3017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332720" y="4754879"/>
            <a:ext cx="11430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11479" y="4791455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JSW Cement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331720" y="4791455"/>
            <a:ext cx="19202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AP / Rajasthan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34840" y="4773167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Aravalli &amp; Eastern Ghats sensitivity;
limestone quarry near forests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360920" y="4773167"/>
            <a:ext cx="2880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Quarrying, habitat loss,
dust, blasting vibration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69880" y="4928616"/>
            <a:ext cx="804672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469880" y="4937759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5422392"/>
            <a:ext cx="1874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240280" y="5422392"/>
            <a:ext cx="20574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343400" y="5422392"/>
            <a:ext cx="288036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69480" y="5422392"/>
            <a:ext cx="3017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32720" y="5422392"/>
            <a:ext cx="114300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11479" y="545896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JSW Infrastructure (Ports)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331720" y="5458968"/>
            <a:ext cx="192023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New Mangalore, Jaigarh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34840" y="5440679"/>
            <a:ext cx="27432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Coastal / marine ecosystems;
seagrass &amp; coral proximity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60920" y="5440679"/>
            <a:ext cx="28803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Dredging, antifouling,
noise &amp; light pollution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69880" y="5596128"/>
            <a:ext cx="804672" cy="292608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69880" y="560527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040" y="632764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666666"/>
                </a:solidFill>
              </a:rPr>
              <a:t>* Based on IBAT, WDPA, and WWF Biodiversity Risk Filter desktop screening.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|  The GRI 101 Reporting Template — Architecture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From raw data to a complete, audit-ready disclosure narrative in 5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6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88720"/>
            <a:ext cx="2148840" cy="201168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88720"/>
            <a:ext cx="2148840" cy="457200"/>
          </a:xfrm>
          <a:prstGeom prst="rect">
            <a:avLst/>
          </a:prstGeom>
          <a:solidFill>
            <a:srgbClr val="000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2344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6459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Org Info
Tab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" y="221284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Legal name, period,
base year, contact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737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2A4A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97480" y="1188720"/>
            <a:ext cx="2148840" cy="2011680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1188720"/>
            <a:ext cx="2148840" cy="457200"/>
          </a:xfrm>
          <a:prstGeom prst="rect">
            <a:avLst/>
          </a:prstGeom>
          <a:solidFill>
            <a:srgbClr val="0038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07208" y="12344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7208" y="16459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Sites Master
Tab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7208" y="221284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List all material sites;
name flows to all tabs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1737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2A4A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4920" y="1188720"/>
            <a:ext cx="2148840" cy="20116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1188720"/>
            <a:ext cx="2148840" cy="457200"/>
          </a:xfrm>
          <a:prstGeom prst="rect">
            <a:avLst/>
          </a:prstGeom>
          <a:solidFill>
            <a:srgbClr val="008A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84648" y="12344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84648" y="16459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Disclosures
101-1 to 101-8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84648" y="221284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Fill YELLOW cells only
per disclosure tab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1737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2A4A"/>
                </a:solidFill>
              </a:rPr>
              <a:t>-&gt;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1188720"/>
            <a:ext cx="2148840" cy="20116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52360" y="1188720"/>
            <a:ext cx="2148840" cy="457200"/>
          </a:xfrm>
          <a:prstGeom prst="rect">
            <a:avLst/>
          </a:prstGeom>
          <a:solidFill>
            <a:srgbClr val="D788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2088" y="12344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62088" y="16459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Supply Chain
Tab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62088" y="221284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Products/services with
highest bio-impact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73736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2A4A"/>
                </a:solidFill>
              </a:rPr>
              <a:t>-&gt;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29800" y="1188720"/>
            <a:ext cx="2148840" cy="2011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829800" y="1188720"/>
            <a:ext cx="2148840" cy="457200"/>
          </a:xfrm>
          <a:prstGeom prst="rect">
            <a:avLst/>
          </a:prstGeom>
          <a:solidFill>
            <a:srgbClr val="099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39528" y="12344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39528" y="16459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Generated
Report Tab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212848"/>
            <a:ext cx="1920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Auto-assembled narrative;
print or extract to Word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3401568"/>
            <a:ext cx="115214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345643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COLOUR KEY: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3474720"/>
            <a:ext cx="201168" cy="1828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42032" y="345643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YELLOW = Input cells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3474720"/>
            <a:ext cx="201168" cy="18288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8032" y="345643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GREY = Labels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58000" y="3474720"/>
            <a:ext cx="201168" cy="182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14032" y="345643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GREEN = Auto-generated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3474720"/>
            <a:ext cx="201168" cy="182880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3456432"/>
            <a:ext cx="1920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BLUE = Section headings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3840480"/>
            <a:ext cx="5596128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135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950208"/>
            <a:ext cx="532180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A4A"/>
                </a:solidFill>
              </a:rPr>
              <a:t>101-1  Policies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Biodiversity policy name &amp; scope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Kunming-Montreal GBF alignment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Science-based targets (SBTn steps 1-3)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KPIs &amp; progress to date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99048" y="3840480"/>
            <a:ext cx="5596128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135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8" y="3950208"/>
            <a:ext cx="532180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A4A"/>
                </a:solidFill>
              </a:rPr>
              <a:t>101-2  Management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Mitigation hierarchy: Avoid / Minimize / Restore / Offset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Restoration area (Ha) per site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Offset details &amp; 3rd-party certification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Biodiversity management plans per site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5166360"/>
            <a:ext cx="5596128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135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5276088"/>
            <a:ext cx="532180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A4A"/>
                </a:solidFill>
              </a:rPr>
              <a:t>101-3  ABS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Nagoya Protocol compliance process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Benefit-sharing with indigenous communities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Marine genetic resource activities (if any)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9048" y="5166360"/>
            <a:ext cx="5596128" cy="1261872"/>
          </a:xfrm>
          <a:prstGeom prst="rect">
            <a:avLst/>
          </a:prstGeom>
          <a:solidFill>
            <a:srgbClr val="FFFFFF"/>
          </a:solidFill>
          <a:ln w="9525">
            <a:solidFill>
              <a:srgbClr val="135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36208" y="5276088"/>
            <a:ext cx="5321808" cy="1033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A4A"/>
                </a:solidFill>
              </a:rPr>
              <a:t>101-4  Identification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Tools used: TNFD LEAP, SBTN, ENCORE, IUCN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Threshold for 'most significant' sites</a:t>
            </a:r>
          </a:p>
          <a:p>
            <a:pPr algn="l">
              <a:spcBef>
                <a:spcPts val="400"/>
              </a:spcBef>
            </a:pPr>
            <a:r>
              <a:rPr sz="900">
                <a:solidFill>
                  <a:srgbClr val="333333"/>
                </a:solidFill>
              </a:rPr>
              <a:t>  Primary vs secondary data usage &amp; plans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|  Key Disclosures Deep Dive — Disclosure 101-1 &amp; 101-2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Policies and management are the backbone; investors scrutinise these most heavily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557784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5577840" cy="36576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2161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A"/>
                </a:solidFill>
              </a:rPr>
              <a:t>101-1  |  Policies to Halt &amp; Reverse Biodiversity Loss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169164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810512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What to disclose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1773936"/>
            <a:ext cx="3520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Commitments; GBF 2030 target alignment; goals &amp; indicators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14015"/>
            <a:ext cx="1691640" cy="53035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05456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GBF Link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468879"/>
            <a:ext cx="3520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Align to Targets 2 (restore 30% degraded), 3 (protect 30%), 15 (business disclosure)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108960"/>
            <a:ext cx="169164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200400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Sci-based targets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3163824"/>
            <a:ext cx="3520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SBTN Step 1 (Assess) &gt; Step 2 (Prioritize) &gt; Step 3 (Set targets)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803904"/>
            <a:ext cx="1691640" cy="53035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95344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KPIs for JSW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3858768"/>
            <a:ext cx="3520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Ha of land under restoration | % sites with BMP | Net gain/loss metric | Threatened species on sites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98848"/>
            <a:ext cx="1691640" cy="53035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90288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Common pitfalls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4553712"/>
            <a:ext cx="3520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Vague language; no measurable targets; not linked to GBF; doesn't cover suppliers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93792"/>
            <a:ext cx="1691640" cy="53035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285231"/>
            <a:ext cx="16002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40280" y="5248655"/>
            <a:ext cx="35204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Adopt standalone Biodiversity Policy; set SBTN-aligned targets by Q2 FY2026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143000"/>
            <a:ext cx="5650992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1143000"/>
            <a:ext cx="5650992" cy="36576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2161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0A2A4A"/>
                </a:solidFill>
              </a:rPr>
              <a:t>101-2  |  Management — The Mitigation Hierarchy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719072"/>
            <a:ext cx="4663440" cy="64008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186537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AVOID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1810512"/>
            <a:ext cx="30632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Prevent impact before it occurs — site selection, project design, no-go zones in EIA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496312"/>
            <a:ext cx="4498848" cy="64008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10528" y="264261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MINIMIZE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8120" y="2587752"/>
            <a:ext cx="28986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Reduce extent/severity of unavoidable impacts — best-practice tech, H&amp;S measures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273552"/>
            <a:ext cx="4334255" cy="640080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0528" y="341985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RESTORE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8120" y="3364992"/>
            <a:ext cx="273405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Rehabilitate degraded habitats post-impact — re-introduction, revegetation (report Ha)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4050791"/>
            <a:ext cx="4169663" cy="64008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10528" y="419709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OFFSET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18120" y="4142231"/>
            <a:ext cx="25694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Compensate residual impacts — biodiversity credits, conservation finance, third-party cert.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828031"/>
            <a:ext cx="4005072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10528" y="4974336"/>
            <a:ext cx="1097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TRANSFORM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4919471"/>
            <a:ext cx="24048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Additional conservation beyond no-net-loss — nature-positive commitments, NbS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5650992"/>
            <a:ext cx="5650992" cy="53035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56875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333333"/>
                </a:solidFill>
              </a:rPr>
              <a:t>JSW PRIORITY: Gap analysis needed for Avoid documentation and Offset strategy for Vijayanagar &amp; Dolvi.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|  Disclosure 101-4 — Identification Tools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TNFD LEAP, SBTN, ENCORE, IUCN Red List — how to select the right tool for each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8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101-4 requires companies to explain HOW they identified sites and supply-chain products with the most significant biodiversity impacts — tool selection is key to credibility.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3840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3840480" cy="56692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80" y="1755648"/>
            <a:ext cx="84124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175564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A2A4A"/>
                </a:solidFill>
              </a:rPr>
              <a:t>Foundation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1737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TNFD LEAP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" y="206654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0E8FF"/>
                </a:solidFill>
              </a:rPr>
              <a:t>Locate &gt; Evaluate &gt; Assess &gt; Prepare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" y="2377440"/>
            <a:ext cx="3621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Structured nature-related risk assessment. Identifies interface points with nature. Outputs align to TNFD &amp; GRI 101 simultaneously. Best-practice framework globally.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664208"/>
            <a:ext cx="3840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664208"/>
            <a:ext cx="3840480" cy="566928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19" y="1755648"/>
            <a:ext cx="84124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9" y="175564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3568A"/>
                </a:solidFill>
              </a:rPr>
              <a:t>Targets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07407" y="1737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SBTN (Science
Based Targets)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07407" y="206654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0E8FF"/>
                </a:solidFill>
              </a:rPr>
              <a:t>5-Step Target-Setting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2377440"/>
            <a:ext cx="3621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Science-grounded biodiversity targets. Step 1 screen provides site-level materiality. Directly aligns with GBF Target 15 on business disclosure.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1664208"/>
            <a:ext cx="3840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1664208"/>
            <a:ext cx="3840480" cy="566928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109959" y="1755648"/>
            <a:ext cx="84124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09959" y="175564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00A86B"/>
                </a:solidFill>
              </a:rPr>
              <a:t>Quick Screen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5047" y="173736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ENCORE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5047" y="206654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0E8FF"/>
                </a:solidFill>
              </a:rPr>
              <a:t>Exposure &amp; Dependency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5047" y="2377440"/>
            <a:ext cx="3621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Maps each business activity's dependencies and impacts on ecosystem services. Free UNEP/World Bank tool — ideal first screen for steel, energy, cement, ports.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995928"/>
            <a:ext cx="3840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995928"/>
            <a:ext cx="3840480" cy="56692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54680" y="4087368"/>
            <a:ext cx="84124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154680" y="408736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5A623"/>
                </a:solidFill>
              </a:rPr>
              <a:t>Site Screen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" y="4069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IBAT / WDPA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" y="43982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0E8FF"/>
                </a:solidFill>
              </a:rPr>
              <a:t>Protected Area Screen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4709160"/>
            <a:ext cx="3621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Screens sites vs. IUCN Red List, World Heritage, Key Biodiversity Areas, Ramsar sites. Industry standard for project-level biodiversity risk triage.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79" y="3995928"/>
            <a:ext cx="3840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79" y="3995928"/>
            <a:ext cx="384048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132319" y="4087368"/>
            <a:ext cx="84124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19" y="408736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27AE60"/>
                </a:solidFill>
              </a:rPr>
              <a:t>Supply Chain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07407" y="4069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WWF Bio Risk
Filter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07407" y="43982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0E8FF"/>
                </a:solidFill>
              </a:rPr>
              <a:t>Portfolio Screening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07407" y="4709160"/>
            <a:ext cx="3621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Country x sector biodiversity risk. Useful for supply chain and project-level screening. Free online tool — covers all of JSW's operating states.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75319" y="3995928"/>
            <a:ext cx="384048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75319" y="3995928"/>
            <a:ext cx="3840480" cy="566928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109959" y="4087368"/>
            <a:ext cx="841248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09959" y="4087368"/>
            <a:ext cx="8412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E53535"/>
                </a:solidFill>
              </a:rPr>
              <a:t>Species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5047" y="4069080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IUCN Red List
&amp; CITES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85047" y="4398264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D0E8FF"/>
                </a:solidFill>
              </a:rPr>
              <a:t>Species Risk Registry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5047" y="4709160"/>
            <a:ext cx="362102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Required by 101-6 for wild species harvested. Also for identifying threatened species on or near sites. Authoritative global database.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|  Site-Level Disclosures — 101-5 through 101-8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The quantitative engine of GRI 101 — per-site data collection is the critical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9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Disclosures 101-5 to 101-8 require granular site-by-site data. The Sites Master tab is the master registry — every site named there flows into all four tabs automatically.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91640"/>
            <a:ext cx="2834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2834640" cy="5486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173736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101-5
Locations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3172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IN or NEAR ecologically sensitive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25496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Distance to protected area (km)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31927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Key Biodiversity Area (KBA) overlap?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1304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High ecosystem integrity zones?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06824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Areas of rapid integrity decline?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High water-stress areas? (WRI Aqueduct)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94376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Areas important to indigenous peoples?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78815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Size of sensitive area within site (Ha)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1691640"/>
            <a:ext cx="2834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91840" y="1691640"/>
            <a:ext cx="2834640" cy="548640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173736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101-6
Direct Drivers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33172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Land/sea use change — Ha converted; ecosystem before &amp; after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2825496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Wild species harvested — type, quantity, IUCN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31927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Water withdrawal &amp; consumption (ML) — use GRI 303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1304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Pollutants — type &amp; quantity (GRI 305-7, 306-3)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4306824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Invasive alien species introduction pathway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80060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Cut-off/reference date for land conversion data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1691640"/>
            <a:ext cx="2834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1691640"/>
            <a:ext cx="2834640" cy="54864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173736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101-7
State of Biodiversity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33172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Ecosystem type (IUCN Global Ecosystem Typology)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2825496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Ecosystem size — base year vs current period (Ha)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331927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Ecosystem condition — base year vs current period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81304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Method used to measure condition (e.g. BioCondition)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06824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Multiple rows if multiple ecosystem types per site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80060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Note data limitations &amp; datasets used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1691640"/>
            <a:ext cx="2834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35440" y="1691640"/>
            <a:ext cx="2834640" cy="5486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45167" y="1737360"/>
            <a:ext cx="26060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101-8
Ecosystem Services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72600" y="233172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Category: Provisioning / Regulating / Cultural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2825496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Specific service (freshwater, carbon sequestration...)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600" y="3319272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Beneficiaries (who &amp; how many affected)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72600" y="3813048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How JSW's operations affect the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72600" y="4306824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Approach used (CICES, TEEB, IPBES MA)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72600" y="4800600"/>
            <a:ext cx="25786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Quantify value where possible (USD/yr, ML/yr)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04  |  Supply Chain Biodiversity — GRI 101 Table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Upstream impacts from raw material sourcing are under growing regulatory and investor 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10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11521440" cy="4572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A2A4A"/>
                </a:solidFill>
              </a:rPr>
              <a:t>GRI 101 requires disclosure of products/services with most significant supply-chain biodiversity impacts by country. For JSW Steel: iron ore, coking coal, limestone, scrap, and energy inputs are the priority.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719072"/>
            <a:ext cx="178308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" y="177393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Commodity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8840" y="1719072"/>
            <a:ext cx="187452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21992" y="177393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Sourcing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1719072"/>
            <a:ext cx="301752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42232" y="1773936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Biodiversity Concern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719072"/>
            <a:ext cx="3291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05472" y="17739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to Collect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1719072"/>
            <a:ext cx="96012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43032" y="1773936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Risk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103120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148840" y="2103120"/>
            <a:ext cx="1874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69080" y="2103120"/>
            <a:ext cx="3017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32320" y="2103120"/>
            <a:ext cx="3291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69880" y="2103120"/>
            <a:ext cx="960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" y="2139696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Iron 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21992" y="2139696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Goa, Odisha, KA;
Australia, Brazil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42232" y="2121408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Mining near forests/rivers; tailing dam risks; high-biodiversity areas in Goa mines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2121408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Ha natural ecosystem converted; water withdrawal; species at risk; HIC flag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43032" y="2276856"/>
            <a:ext cx="804672" cy="27432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543032" y="2286000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2770632"/>
            <a:ext cx="178308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148840" y="2770632"/>
            <a:ext cx="1874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069080" y="2770632"/>
            <a:ext cx="3017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0" y="2770632"/>
            <a:ext cx="32918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69880" y="2770632"/>
            <a:ext cx="9601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2807208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Coking Coal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21992" y="2807208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Australia, US,
Russia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2788920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Bowen Basin mine proximity to protected areas; mountaintop removal; water contamination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2788920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Volume sourced; country; conversion data; IUCN species impacted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543032" y="2944368"/>
            <a:ext cx="804672" cy="27432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43032" y="295351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3438144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48840" y="3438144"/>
            <a:ext cx="1874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069080" y="3438144"/>
            <a:ext cx="3017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0" y="3438144"/>
            <a:ext cx="3291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69880" y="3438144"/>
            <a:ext cx="960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93192" y="3474720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Limestone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21992" y="3474720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Rajasthan, AP,
Gujarat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42232" y="3456432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Quarrying in Aravalli (SC orders); karst ecosystem destruction; dust on forest habitat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05472" y="3456432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Ha quarried; ecosystem type before/after; flora/fauna surveys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43032" y="3611879"/>
            <a:ext cx="804672" cy="27432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43032" y="3621024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4105656"/>
            <a:ext cx="178308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148840" y="4105656"/>
            <a:ext cx="1874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69080" y="4105656"/>
            <a:ext cx="3017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32320" y="4105656"/>
            <a:ext cx="32918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469880" y="4105656"/>
            <a:ext cx="9601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" y="4142232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Scrap Steel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221992" y="4142232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Domestic + EU,
SE Asia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42232" y="4123944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Lower bio-risk vs primary; port logistics impacts; hazardous waste co-processing risk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05472" y="4123944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Country of origin; volume; logistics footprint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543032" y="4279392"/>
            <a:ext cx="804672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43032" y="4288536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773168"/>
            <a:ext cx="1783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2148840" y="4773168"/>
            <a:ext cx="1874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069080" y="4773168"/>
            <a:ext cx="30175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32320" y="4773168"/>
            <a:ext cx="32918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469880" y="4773168"/>
            <a:ext cx="960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3192" y="480974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Thermal Coal
(captive power)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21992" y="4809744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Odisha, CG;
Indonesia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42232" y="4791455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Mining in forest landscapes; Indonesia peat/rainforest risk; ash pond land use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205472" y="4791455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Forest land occupied; water use; invasive risk; ash disposal Ha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43032" y="4946904"/>
            <a:ext cx="804672" cy="27432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43032" y="4956048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5440679"/>
            <a:ext cx="178308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148840" y="5440679"/>
            <a:ext cx="1874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069080" y="5440679"/>
            <a:ext cx="30175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132320" y="5440679"/>
            <a:ext cx="329184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469880" y="5440679"/>
            <a:ext cx="960120" cy="64008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3192" y="5477255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Ferro-alloys
(Mn, Cr)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221992" y="5477255"/>
            <a:ext cx="1783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South Africa,
India (Odisha, AP)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42232" y="5458967"/>
            <a:ext cx="292608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Ferrochrome near grassland biomes; water use in water-stressed areas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05472" y="5458967"/>
            <a:ext cx="320040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Volume; supplier location; water data; ecosystem affected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543032" y="5614416"/>
            <a:ext cx="804672" cy="2743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543032" y="5623559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MEDIUM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05  |  Implementation Roadmap — Path to GRI 101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Three-phase programme — 18 months from now to first-class FY2026 disclosure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11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384048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3840480" cy="8229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1887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1
FOUNDATION
Q3-Q4 FY2026
(Now - Sep 2025)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202996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Form Biodiversity Steering Committee (CSCO + Sites + ESG)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255117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Commission TNFD LEAP / SBTN Step 1 for top 5 sites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07238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Run ENCORE analysis for all JSW business 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59359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Identify GRI 101 data owners per disclosure (RACI)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114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Desktop sensitivity screen (IBAT/WDPA) for all sites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46360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Map supply chain commodities using WWF Risk Filter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515721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Draft standalone Biodiversity Policy for Board approval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567842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Set up data collection (populate this workbook)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1143000"/>
            <a:ext cx="384048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79" y="1143000"/>
            <a:ext cx="3840480" cy="822960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1" y="11887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2
DATA COLLECTION
Q1-Q2 FY2026
(Oct 2025 - Mar 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202996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Deploy site-level data collection (101-5 to 101-8 tabs)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255117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Engage site EHS officers to populate Sites Master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07238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Commission ecological surveys at HIGH-risk sites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59359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Quantify water withdrawal/consumption per site (GRI 303)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4114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Collect pollutant data per site (GRI 305-7, 306-3)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6360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Engage top 20 suppliers on biodiversity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515721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Develop Biodiversity Management Plans for top-5 sites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567842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Legal review of ABS (Nagoya Protocol) compliance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1143000"/>
            <a:ext cx="384048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1143000"/>
            <a:ext cx="3840480" cy="82296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39911" y="1188720"/>
            <a:ext cx="3520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Phase 3
DISCLOSURE
Q3-Q4 FY2026
(Apr - Jun 2026)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31351" y="202996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Compile GRI 101 narrative from Generated Report tab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1" y="255117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Internal review: Legal, Risk, CFO, Sustainability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1" y="307238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Third-party limited assurance by Big 4 / ESG assurer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1" y="3593592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Integrate into JSW Annual / Sustainability Report FY2026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1" y="411480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Submit to CDP Nature questionnaire (first year)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1" y="4636008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Publish standalone TNFD Report (4 pillars)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1" y="5157216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Brief Board ESG Committee on nature risks &amp; opps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31351" y="5678424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  Set SBTn targets (Step 3) for SBTN 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06  |  Strategic Value Creation — Beyond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GRI 101 is a platform for competitive advantage — not just a reporting obligation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12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Leading steel companies (ArcelorMittal, POSCO, Tata Steel) use biodiversity disclosure to differentiate on ESG ratings, unlock green finance, and strengthen social licence. JSW can leapfrog Indian peers.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64208"/>
            <a:ext cx="384048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64208"/>
            <a:ext cx="3840480" cy="4572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7190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ESG Rating Upgrade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19456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MSCI ESG rating now includes nature risk. BBB -&gt; A on MSCI can reduce JSW's cost of capital by 30-50 bps and unlock index inclusion (MSCI World ESG Leaders). Sustainalytics scoring nature risk as standalone sub-risk from 2025.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79" y="3547872"/>
            <a:ext cx="3566160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6616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Potential: +1 MSCI notch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79" y="1664208"/>
            <a:ext cx="384048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1664208"/>
            <a:ext cx="3840480" cy="4572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7190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Green Finance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19456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JSW has issued USD 1Bn in green bonds. IFC's Biodiversity Finance Guide requires nature disclosures for nature-climate dual-labelled bonds. Nature bond pricing premium: 10-20 bps vs vanilla green bonds.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19" y="3547872"/>
            <a:ext cx="3566160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356616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A86B"/>
                </a:solidFill>
              </a:rPr>
              <a:t>Potential: ~USD 10-20M savings p.a.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75319" y="1664208"/>
            <a:ext cx="384048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75319" y="1664208"/>
            <a:ext cx="3840480" cy="457200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171907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Social Licence &amp; Community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19456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Vijayanagar: 200,000+ farmers depend on the Tungabhadra ecosystem. Proactive biodiversity management and transparent reporting significantly reduces regulatory &amp; community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59" y="3547872"/>
            <a:ext cx="3566160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199" y="356616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3568A"/>
                </a:solidFill>
              </a:rPr>
              <a:t>Risk avoided: project delays ~USD 100M+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4041648"/>
            <a:ext cx="384048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4041648"/>
            <a:ext cx="3840480" cy="457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9651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Export Market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57200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EU CSDDD and CBAM create de-facto nature standards for exports. JSW Steel exports ~4 MT/yr to EU -- supplier biodiversity disclosure will become a buyer requirement by 2027.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79" y="5925312"/>
            <a:ext cx="3566160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9436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5A623"/>
                </a:solidFill>
              </a:rPr>
              <a:t>Market at risk: ~USD 2.5Bn EU exports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4041648"/>
            <a:ext cx="384048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97679" y="4041648"/>
            <a:ext cx="38404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409651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Talent &amp; Reputation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57200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Gen Z talent (JSW's 2030 workforce) ranks employer sustainability top-3 in hiring. JSW's nature commitments support employer brand. Forbes sustainability rankings weighted by biodiversity.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19" y="5925312"/>
            <a:ext cx="3566160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59436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27AE60"/>
                </a:solidFill>
              </a:rPr>
              <a:t>Talent: reduced attrition ~2-3%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19" y="4041648"/>
            <a:ext cx="3840480" cy="22128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19" y="4041648"/>
            <a:ext cx="3840480" cy="457200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0" y="4096511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</a:rPr>
              <a:t>Insurance Savings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4572000"/>
            <a:ext cx="356616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Munich Re, Swiss Re now pricing nature-adjacent operational risk. Documented BMPs reduce premiums. TCFD/TNFD-aligned companies seeing 5-15% insurance premium reduction.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66759" y="5925312"/>
            <a:ext cx="3566160" cy="2560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58199" y="5943600"/>
            <a:ext cx="3474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535"/>
                </a:solidFill>
              </a:rPr>
              <a:t>Saving: ~INR 15-25 Cr per year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07  |  Key Risks &amp; Mitigation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Understanding what could go wrong — building defences into programme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13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3840480" cy="2487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143000"/>
            <a:ext cx="3840480" cy="438912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207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DATA AVAILABILITY
&amp; QUALITY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36776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RISK: Site-level ecosystem data often doesn't exist; secondary/modelled data; inconsistent baselines; supplier data refusal.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79" y="2441448"/>
            <a:ext cx="3657600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963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535"/>
                </a:solidFill>
              </a:rPr>
              <a:t>MITIGATIONS: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27157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Commission primary ecological surveys for top-3 HIGH 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" y="29443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Use ENCORE + IBAT secondary data with disclosed limitations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1729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Establish data quality framework with uncertainty disclosure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34015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Include data improvement roadmap in 101-4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79" y="1143000"/>
            <a:ext cx="3840480" cy="2487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79" y="1143000"/>
            <a:ext cx="3840480" cy="438912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207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REGULATORY
EXPOSURE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1636776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RISK: Disclosure of protected area proximity or habitat conversion may trigger NGO or regulatory scrutiny; legacy land-use history.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19" y="2441448"/>
            <a:ext cx="3657600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24963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53535"/>
                </a:solidFill>
              </a:rPr>
              <a:t>MITIGATIONS: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1" y="27157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Legal review before land-use disclosure is published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1" y="29443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Align narrative with existing MOEF/forest dept approvals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1" y="31729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Proactive regulatory engagement before report release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1" y="34015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Consult ESG/legal counsel on sensitive site disclosures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1143000"/>
            <a:ext cx="3840480" cy="2487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1143000"/>
            <a:ext cx="384048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20700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GREENWASHING
RISK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636776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RISK: Vague policy language, unverifiable targets, or misrepresented restoration data could attract NGO campaigns or SEBI scrutiny.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66759" y="2441448"/>
            <a:ext cx="3657600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496312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MITIGATIONS: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1" y="27157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All quantitative claims third-party assured (Big 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39911" y="29443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Use SBTN for science-based targets (not internal only)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1" y="31729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Do not claim 'biodiversity net positive' without metric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9911" y="3401568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Generated Report narrative must match actual input data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776472"/>
            <a:ext cx="3840480" cy="2487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0040" y="3776472"/>
            <a:ext cx="3840480" cy="43891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38404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SUPPLY CHAIN
DATA GAPS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4270248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RISK: Iron ore, coal, limestone suppliers -- especially spot-market sources -- cannot provide GRI-101-grade data for FY2026.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79" y="5074920"/>
            <a:ext cx="3657600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12978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A623"/>
                </a:solidFill>
              </a:rPr>
              <a:t>MITIGATIONS: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" y="53492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Focus FY2026 on top-20 contracted suppliers by volume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" y="55778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Honest disclosure of data gaps with improvement 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4632" y="58064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Require bio data in supplier code of conduct (FY2027+)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4632" y="60350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Use WWF Risk Filter proxy data, clearly disclosed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79" y="3776472"/>
            <a:ext cx="3840480" cy="2487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97679" y="3776472"/>
            <a:ext cx="3840480" cy="43891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34840" y="38404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ORGANISATIONAL
CAPACITY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4840" y="4270248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RISK: Biodiversity expertise is scarce internally; site teams lack ecological knowledge; ESG team cannot manage 30+ sites alone.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89119" y="5074920"/>
            <a:ext cx="3657600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34840" y="512978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3568A"/>
                </a:solidFill>
              </a:rPr>
              <a:t>MITIGATIONS: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462271" y="53492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Appoint Biodiversity Champions at each HIGH-risk site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62271" y="55778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Train site EHS Officers on GRI 101 (Q3 2025)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62271" y="58064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Engage specialist consultants for TNFD LEAP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62271" y="60350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Build capacity via IEMA / CIB certifications for 3-5 staff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75319" y="3776472"/>
            <a:ext cx="3840480" cy="2487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75319" y="3776472"/>
            <a:ext cx="3840480" cy="43891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38404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TIMELINE
PRESSURE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4270248"/>
            <a:ext cx="356616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33333"/>
                </a:solidFill>
              </a:rPr>
              <a:t>RISK: GRI 101 effective 1 Jan 2026. FY2026 annual report cycle means data collection must begin no later than Q3 2025.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366759" y="5074920"/>
            <a:ext cx="3657600" cy="18288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5129783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3568A"/>
                </a:solidFill>
              </a:rPr>
              <a:t>MITIGATIONS: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39911" y="53492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Immediate: form Steering Committee, appoint Lead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39911" y="55778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Q3 2025: begin site data collection (don't wait for policy)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39911" y="58064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Run parallel workstreams (policy + data + tools)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439911" y="6035040"/>
            <a:ext cx="3520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</a:rPr>
              <a:t>-&gt; Accept 'comply and explain' for Year 1; commit to improve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 |  Recommendations — Prioritised Action Register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Structured by urgency, owner, and expected outcome — ready for management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14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1152144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777240" cy="3657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" y="1188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Priority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3000" y="1143000"/>
            <a:ext cx="4754880" cy="3657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1188720"/>
            <a:ext cx="4617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143000"/>
            <a:ext cx="1645920" cy="3657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71032" y="1188720"/>
            <a:ext cx="1508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143000"/>
            <a:ext cx="1234440" cy="3657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16952" y="1188720"/>
            <a:ext cx="1097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Timeline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1143000"/>
            <a:ext cx="2788920" cy="36576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51392" y="118872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Expected Outcome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527048"/>
            <a:ext cx="777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1527048"/>
            <a:ext cx="47548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97880" y="1527048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43800" y="1527048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778240" y="1527048"/>
            <a:ext cx="2788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1636776"/>
            <a:ext cx="658368" cy="256032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163677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1563624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Form Biodiversity Steering Committee and appoint Biodiversity Programme Lead (dedicated FTE)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71032" y="156362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CSCO / CHRO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563624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Jul 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51392" y="156362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Clear ownership and programme governance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2039112"/>
            <a:ext cx="7772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43000" y="2039112"/>
            <a:ext cx="475488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2039112"/>
            <a:ext cx="1645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43800" y="2039112"/>
            <a:ext cx="12344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78240" y="2039112"/>
            <a:ext cx="2788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2148840"/>
            <a:ext cx="658368" cy="256032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214884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2075688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Commission TNFD LEAP + SBTN Step 1 assessment for Vijayanagar, Dolvi, and Paradip sites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71032" y="2075688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Head, Sustainability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075688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Aug-Sep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51392" y="207568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Material site list validated; 101-4 ready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2551176"/>
            <a:ext cx="777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143000" y="2551176"/>
            <a:ext cx="47548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97880" y="2551176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543800" y="2551176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778240" y="2551176"/>
            <a:ext cx="2788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11480" y="2660904"/>
            <a:ext cx="658368" cy="256032"/>
          </a:xfrm>
          <a:prstGeom prst="rect">
            <a:avLst/>
          </a:prstGeom>
          <a:solidFill>
            <a:srgbClr val="E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266090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2587752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Draft &amp; Board-approve standalone Biodiversity Policy aligned to GBF 2030 Targets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71032" y="258775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Sustainability + Legal + Board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2587752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Sep 2025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51392" y="258775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101-1 foundation; investor signal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063240"/>
            <a:ext cx="7772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43000" y="3063240"/>
            <a:ext cx="475488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97880" y="3063240"/>
            <a:ext cx="1645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543800" y="3063240"/>
            <a:ext cx="12344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778240" y="3063240"/>
            <a:ext cx="2788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1480" y="3172968"/>
            <a:ext cx="658368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317296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3099816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Deploy GRI 101 data collection template across material sites; assign data owners (RACI matrix)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71032" y="309981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Sites + EHS Heads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589520" y="3099816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Oct 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51392" y="309981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Data pipeline for 101-5/6/7/8 established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5760" y="3575304"/>
            <a:ext cx="777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43000" y="3575304"/>
            <a:ext cx="47548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97880" y="3575304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543800" y="3575304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778240" y="3575304"/>
            <a:ext cx="2788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11480" y="3685032"/>
            <a:ext cx="658368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1480" y="3685032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3611880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Run ENCORE analysis for all JSW business activities — map eco-service dependencies &amp; impacts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971032" y="3611880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Sustainability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0" y="3611880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Aug 2025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51392" y="361188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101-8 screening done; quick win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4087368"/>
            <a:ext cx="7772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143000" y="4087368"/>
            <a:ext cx="475488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897880" y="4087368"/>
            <a:ext cx="1645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4087368"/>
            <a:ext cx="12344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78240" y="4087368"/>
            <a:ext cx="2788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411480" y="4197096"/>
            <a:ext cx="658368" cy="2560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11480" y="4197096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4123944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Require top 20 suppliers (iron ore, coal, limestone) to complete biodiversity data for FY2026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71032" y="4123944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Procurement + Sustainability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589520" y="4123944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Nov 2025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51392" y="4123944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Supply chain Table 4 data initiated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65760" y="4599432"/>
            <a:ext cx="777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143000" y="4599432"/>
            <a:ext cx="47548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897880" y="4599432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43800" y="4599432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778240" y="4599432"/>
            <a:ext cx="2788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4709160"/>
            <a:ext cx="658368" cy="25603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4709160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4636008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Develop Biodiversity Management Plans for top 5 HIGH-risk sites (Vijayanagar, Dolvi, Paradip...)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71032" y="4636008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Site EHS Managers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89520" y="4636008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Jan 2026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851392" y="463600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101-2(d) disclosure; management intent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65760" y="5111496"/>
            <a:ext cx="7772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43000" y="5111496"/>
            <a:ext cx="475488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897880" y="5111496"/>
            <a:ext cx="1645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543800" y="5111496"/>
            <a:ext cx="123444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778240" y="5111496"/>
            <a:ext cx="2788920" cy="484632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11480" y="5221224"/>
            <a:ext cx="658368" cy="25603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11480" y="5221224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216152" y="5148072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Engage Big 4 ESG assurer for limited assurance of GRI 101 disclosures in FY2026 SR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71032" y="5148072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CFO + Sustainability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9520" y="5148072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Mar 2026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51392" y="5148072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Credibility with investors, CDP, MSCI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65760" y="5623560"/>
            <a:ext cx="777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43000" y="5623560"/>
            <a:ext cx="47548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897880" y="5623560"/>
            <a:ext cx="1645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543800" y="5623560"/>
            <a:ext cx="12344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778240" y="5623560"/>
            <a:ext cx="278892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11480" y="5733288"/>
            <a:ext cx="658368" cy="25603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11480" y="5733288"/>
            <a:ext cx="6583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216152" y="5660136"/>
            <a:ext cx="4617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File CDP Nature questionnaire for FY2026 (first year / process foundation basis)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71032" y="5660136"/>
            <a:ext cx="1508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Sustainability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589520" y="5660136"/>
            <a:ext cx="1143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2A4A"/>
                </a:solidFill>
              </a:rPr>
              <a:t>Jul 2026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851392" y="566013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CDP Nature score; DJSI / MSCI signal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08  |  100-Day Quick Win Plan — Building Momentum Immediately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Actions requiring minimal budget that demonstrate leadership and build internal capability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15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11521440" cy="43891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1887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These actions require no capital expenditure. They build capability, establish credibility, and signal to the market that JSW is serious about nature -- ahead of the FY2026 disclosure cycle.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91640"/>
            <a:ext cx="3840480" cy="4553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1691640"/>
            <a:ext cx="3840480" cy="62179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37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Days 1-30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E8FF"/>
                </a:solidFill>
              </a:rPr>
              <a:t>ACTIVATE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239572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Table Biodiversity at next Board ESG Committee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303580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Form cross-functional working group (EHS, Legal, Finance, Procurement, Comms)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3675887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Download &amp; review GRI 101 template; assign tab owners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431596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Subscribe to TNFD, SBTN, CBD notifications (free)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95604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Run free ENCORE screening for all 6 JSW business divisions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559612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Brief CEO/MD with this deck and request mandate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79" y="1691640"/>
            <a:ext cx="3840480" cy="4553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79" y="1691640"/>
            <a:ext cx="3840480" cy="621792"/>
          </a:xfrm>
          <a:prstGeom prst="rect">
            <a:avLst/>
          </a:prstGeom>
          <a:solidFill>
            <a:srgbClr val="135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1737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Days 31-60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E8FF"/>
                </a:solidFill>
              </a:rPr>
              <a:t>ASSESS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239572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Run WWF Biodiversity Risk Filter for all JSW states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03580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Screen all sites against WDPA (protected areas) via IBAT free tier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3675887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Identify top-5 material sites (SBTN Step 1 free tool)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431596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Map GRI 101 data requirements to existing GRI 303/305/306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495604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Identify data gaps and budget for FY2026 programme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559612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Engage external consultants for TNFD LEAP (issue RFP)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1691640"/>
            <a:ext cx="3840480" cy="45537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1691640"/>
            <a:ext cx="3840480" cy="621792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17373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Days 61-100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0299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0E8FF"/>
                </a:solidFill>
              </a:rPr>
              <a:t>COMMIT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31351" y="239572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Draft Biodiversity Policy (10-page doc; stakeholder input)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1" y="303580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Set 3 measurable targets for FY2027 (Ha restored, sites w/ BMP, water reduction)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31351" y="3675887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Begin populating GRI 101 template with best-available data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31351" y="431596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Publish 1-page Biodiversity Commitment on JSW website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31351" y="495604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Announce programme at next investor day / earnings 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1" y="5596128"/>
            <a:ext cx="34290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33333"/>
                </a:solidFill>
              </a:rPr>
              <a:t>  Brief top 5 suppliers on upcoming data requirements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Appendix A  |  Peer Benchmarking — JSW vs. Global Steel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Biodiversity disclosure maturity of global peers — FY2024 sustainability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16 / 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097280"/>
            <a:ext cx="11521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3333"/>
                </a:solidFill>
              </a:rPr>
              <a:t>JSW currently discloses biodiversity at a basic/narrative level. Global steel peers are moving to quantitative, site-specific, science-based approaches. GRI 101 creates a level playing field — and an opportunity to lead India.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187452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1627632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1600200"/>
            <a:ext cx="137160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13432" y="16276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GRI 101 Status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600200"/>
            <a:ext cx="137160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0752" y="1627632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TNFD Adoption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1600200"/>
            <a:ext cx="114300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8072" y="162763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SBTN Targets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00200"/>
            <a:ext cx="105156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1627632"/>
            <a:ext cx="960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CDP Nature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60920" y="1600200"/>
            <a:ext cx="141732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2" y="1627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Bio Policy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23960" y="1600200"/>
            <a:ext cx="2743200" cy="38404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1627632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JSW Gap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2029968"/>
            <a:ext cx="18745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40280" y="2029968"/>
            <a:ext cx="13716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0" y="2029968"/>
            <a:ext cx="13716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74920" y="2029968"/>
            <a:ext cx="11430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029968"/>
            <a:ext cx="10515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60920" y="2029968"/>
            <a:ext cx="14173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23960" y="2029968"/>
            <a:ext cx="27432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08483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ArcelorMittal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13432" y="208483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GRI 101 Pilot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0752" y="208483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TNFD Pilot Adopter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2084832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Step 2 Complete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2084832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Responded 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34072" y="208483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Standalone Policy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97112" y="208483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JSW needs standalone policy; TNFD LEAP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2688336"/>
            <a:ext cx="187452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240280" y="2688336"/>
            <a:ext cx="13716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657600" y="2688336"/>
            <a:ext cx="13716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4920" y="2688336"/>
            <a:ext cx="11430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63640" y="2688336"/>
            <a:ext cx="105156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360920" y="2688336"/>
            <a:ext cx="141732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823960" y="2688336"/>
            <a:ext cx="27432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3192" y="274320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POSCO (Korea)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13432" y="2743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GRI 101 Pilot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30752" y="27432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TNFD Adopted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48072" y="2743200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Step 1 Complete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36792" y="2743200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Responded 2024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34072" y="2743200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Integrated EHS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97112" y="27432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POSCO ahead on TNFD &amp; SBTN -- accelerate tools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346704"/>
            <a:ext cx="18745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240280" y="3346704"/>
            <a:ext cx="13716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0" y="3346704"/>
            <a:ext cx="13716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074920" y="3346704"/>
            <a:ext cx="11430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63640" y="3346704"/>
            <a:ext cx="10515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360920" y="3346704"/>
            <a:ext cx="14173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823960" y="3346704"/>
            <a:ext cx="27432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3192" y="3401568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Tata Steel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13432" y="340156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GRI 101 Preparing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730752" y="340156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TNFD Exploring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48072" y="3401568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Step 1 Started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36792" y="3401568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Responded 2024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434072" y="3401568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In EHS Policy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897112" y="3401568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Tata at similar stage -- opportunity to lead peers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4005072"/>
            <a:ext cx="187452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240280" y="4005072"/>
            <a:ext cx="13716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657600" y="4005072"/>
            <a:ext cx="13716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074920" y="4005072"/>
            <a:ext cx="11430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63640" y="4005072"/>
            <a:ext cx="105156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360920" y="4005072"/>
            <a:ext cx="141732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823960" y="4005072"/>
            <a:ext cx="2743200" cy="630936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93192" y="4059936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Nippon Steel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13432" y="4059936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Full GRI Reporter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730752" y="4059936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TNFD Adopted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48072" y="4059936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Step 3 Set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36792" y="4059936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Responded 2023-24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434072" y="4059936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Standalone Policy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897112" y="4059936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JSW 2-3 yrs behind; most advanced on KPIs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0040" y="4663440"/>
            <a:ext cx="18745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240280" y="4663440"/>
            <a:ext cx="13716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657600" y="4663440"/>
            <a:ext cx="13716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074920" y="4663440"/>
            <a:ext cx="11430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263640" y="4663440"/>
            <a:ext cx="105156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360920" y="4663440"/>
            <a:ext cx="141732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823960" y="4663440"/>
            <a:ext cx="2743200" cy="630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93192" y="4718303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Nucor (US)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313432" y="4718303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Partial GRI 101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30752" y="4718303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TNFD Exploring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48072" y="4718303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Not Started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36792" y="4718303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Not Responded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434072" y="4718303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333333"/>
                </a:solidFill>
              </a:rPr>
              <a:t>In EHS Policy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897112" y="4718303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JSW comparable -- lead Americas/Asia market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20040" y="5321808"/>
            <a:ext cx="1874520" cy="6309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240280" y="5321808"/>
            <a:ext cx="1371600" cy="6309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57600" y="5321808"/>
            <a:ext cx="1371600" cy="6309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074920" y="5321808"/>
            <a:ext cx="1143000" cy="6309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63640" y="5321808"/>
            <a:ext cx="1051560" cy="6309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360920" y="5321808"/>
            <a:ext cx="1417320" cy="6309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823960" y="5321808"/>
            <a:ext cx="2743200" cy="630936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93192" y="5376672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535"/>
                </a:solidFill>
              </a:rPr>
              <a:t>JSW Steel
(Current)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313432" y="537667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53535"/>
                </a:solidFill>
              </a:rPr>
              <a:t>NOT YET REPORTING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730752" y="537667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53535"/>
                </a:solidFill>
              </a:rPr>
              <a:t>Not Started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148072" y="5376672"/>
            <a:ext cx="1051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53535"/>
                </a:solidFill>
              </a:rPr>
              <a:t>Not Started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36792" y="5376672"/>
            <a:ext cx="960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53535"/>
                </a:solidFill>
              </a:rPr>
              <a:t>Not Responded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34072" y="5376672"/>
            <a:ext cx="1325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53535"/>
                </a:solidFill>
              </a:rPr>
              <a:t>NO STANDALONE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897112" y="53766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E53535"/>
                </a:solidFill>
              </a:rPr>
              <a:t>THIS IS THE GAP -- FY2026 must close 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Appendix B  |  Key Terms &amp; Acronyms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Reference glossary for GRI 101 Biodiversity 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74536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0B0CC"/>
                </a:solidFill>
              </a:rPr>
              <a:t>JSW Group  |  GRI 101 Biodiversity 2024  |  Strictly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7453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B0CC"/>
                </a:solidFill>
              </a:rPr>
              <a:t>17 / 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143000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19786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9031" y="1179576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Access and Benefit-Sharing — equitable sharing of benefits from genetic resources (Nagoya Protocol)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81927" y="1143000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7" y="119786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19" y="1179576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Biodiversity Management Plan — site-level plan documenting biodiversity impacts and mitigation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527048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158191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CBD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1" y="1563624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Convention on Biological Diversity — international legal instrument for biodiversity (196 parties)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81927" y="1527048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7" y="158191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1563624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Convention on International Trade in Endangered Species of Wild Fauna and Flora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1911095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196596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ENCORE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1" y="1947672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Exploring Natural Capital Opportunities, Risks and Exposure — UNEP-WCMC/WWF tool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1927" y="1911095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7" y="1965960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GBF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19" y="1947672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Kunming-Montreal Global Biodiversity Framework — 2022 agreement with 23 global targets to 2030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2295144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23500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IBAT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99031" y="2331720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Integrated Biodiversity Assessment Tool — IUCN Red List + WDPA + CITES + KBA screening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81927" y="2295144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7" y="2350008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IUCN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19" y="2331720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International Union for Conservation of Nature — global Red List of threatened species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2679191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273405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KBA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99031" y="2715768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Key Biodiversity Area — internationally recognised site vital for biodiversity persistence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81927" y="2679191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3367" y="2734056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LEAP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19" y="2715768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TNFD assessment: Locate &gt; Evaluate dependencies &amp; impacts &gt; Assess risks &gt; Prepare disclosure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3063240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11479" y="311810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SBTN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99031" y="3099816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Science Based Targets Network — framework for science-based nature targets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81927" y="3063240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73367" y="3118104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SBTn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19" y="3099816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Science-Based Targets for nature (the targets themselves, vs. SBTN the organisation)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47288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79" y="35021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TNFD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399031" y="3483864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Taskforce on Nature-related Financial Disclosures — reporting framework for nature risks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81927" y="3447288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73367" y="3502152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WDPA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60919" y="3483864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World Database on Protected Areas — global database managed by UNEP-WCMC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3831335"/>
            <a:ext cx="1005840" cy="347472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11479" y="3886199"/>
            <a:ext cx="868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30x30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99031" y="3867911"/>
            <a:ext cx="47731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</a:rPr>
              <a:t>GBF Target 3 — protect and conserve 30% of land, inland waters, and coastal/marine areas by 2030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852928"/>
            <a:ext cx="11640312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8404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NEXT STEPS — THREE DECISIONS NEEDED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822960"/>
            <a:ext cx="10241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CCE8"/>
                </a:solidFill>
              </a:rPr>
              <a:t>The actions to launch JSW's biodiversity programme and protect our licence to operate, financing, and market access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389888"/>
            <a:ext cx="3429000" cy="1325880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389888"/>
            <a:ext cx="3429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46304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DECISION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MANDATE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05740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D8EE"/>
                </a:solidFill>
              </a:rPr>
              <a:t>Confirm Board/MD mandate for GRI 101 programme and appoint a Biodiversity Programme Lead by 31 July 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1389888"/>
            <a:ext cx="3429000" cy="1325880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1389888"/>
            <a:ext cx="3429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46304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DECISION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5740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D8EE"/>
                </a:solidFill>
              </a:rPr>
              <a:t>Approve Q3 FY2026 budget for: (a) TNFD LEAP consultant, (b) IBAT subscription, (c) ecological surveys for top-3 sites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89888"/>
            <a:ext cx="3429000" cy="1325880"/>
          </a:xfrm>
          <a:prstGeom prst="rect">
            <a:avLst/>
          </a:prstGeom>
          <a:solidFill>
            <a:srgbClr val="0F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89888"/>
            <a:ext cx="342900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46304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A623"/>
                </a:solidFill>
              </a:rPr>
              <a:t>DECISION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1737360"/>
            <a:ext cx="3154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57400"/>
            <a:ext cx="3154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0D8EE"/>
                </a:solidFill>
              </a:rPr>
              <a:t>Schedule Biodiversity Steering Committee kick-off for August 2025 with CSCO, Steel, Energy, Cement, Ports heads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944368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DISCUSSION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64992"/>
            <a:ext cx="102412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A623"/>
                </a:solidFill>
              </a:rPr>
              <a:t>"Given JSW's growth ambitions and expansion plans, can we afford NOT to have a nature strategy? Our competitors in global green steel are already here."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2519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A8C8"/>
                </a:solidFill>
              </a:rPr>
              <a:t>Template provided: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4251960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EE"/>
                </a:solidFill>
              </a:rPr>
              <a:t>GRI 101 Biodiversity 2024 Reporting Template (Excel workbook)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654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A8C8"/>
                </a:solidFill>
              </a:rPr>
              <a:t>Standard reference: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654296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EE"/>
                </a:solidFill>
              </a:rPr>
              <a:t>GRI 101: Biodiversity 2024 (effective 1 January 2026)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566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A8C8"/>
                </a:solidFill>
              </a:rPr>
              <a:t>Key frameworks: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5056632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EE"/>
                </a:solidFill>
              </a:rPr>
              <a:t>TNFD v1.0  |  SBTN Steps 1-3  |  Kunming-Montreal GBF  |  SEBI BRSR 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589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0A8C8"/>
                </a:solidFill>
              </a:rPr>
              <a:t>Tools referenced: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5458968"/>
            <a:ext cx="7589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D8EE"/>
                </a:solidFill>
              </a:rPr>
              <a:t>ENCORE  |  IBAT  |  WWF Biodiversity Risk Filter  |  WRI Aqueduct  |  IUCN Red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199632"/>
            <a:ext cx="10241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7595"/>
                </a:solidFill>
              </a:rPr>
              <a:t>Prepared by: Sustainability &amp; ESG Strategy  |  JSW Group  |  June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