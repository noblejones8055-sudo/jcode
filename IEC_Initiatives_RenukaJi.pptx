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926080" y="228600"/>
            <a:ext cx="6309360" cy="594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b="1" sz="2000">
                <a:solidFill>
                  <a:srgbClr val="2D6A4F"/>
                </a:solidFill>
                <a:latin typeface="Calibri"/>
              </a:rPr>
              <a:t>IEC Initiatives in Renuka Ji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05840"/>
            <a:ext cx="6858000" cy="868680"/>
          </a:xfrm>
          <a:prstGeom prst="roundRect">
            <a:avLst>
              <a:gd name="adj" fmla="val 5000"/>
            </a:avLst>
          </a:prstGeom>
          <a:solidFill>
            <a:srgbClr val="F5F0E6"/>
          </a:solidFill>
          <a:ln w="9525">
            <a:solidFill>
              <a:srgbClr val="D9C9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01600" tIns="101600" bIns="50800"/>
          <a:lstStyle/>
          <a:p>
            <a:pPr algn="l"/>
            <a:r>
              <a:rPr b="1" sz="1300">
                <a:solidFill>
                  <a:srgbClr val="1A1A1A"/>
                </a:solidFill>
                <a:latin typeface="Calibri"/>
              </a:rPr>
              <a:t>20+ clean-up drives</a:t>
            </a:r>
            <a:r>
              <a:rPr b="0" sz="1200">
                <a:solidFill>
                  <a:srgbClr val="3A3A3A"/>
                </a:solidFill>
                <a:latin typeface="Calibri"/>
              </a:rPr>
              <a:t> organised in Renuka Ji Wildlife Sanctuary periphery in partnership with Seva Samiti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2039112"/>
            <a:ext cx="6858000" cy="868680"/>
          </a:xfrm>
          <a:prstGeom prst="roundRect">
            <a:avLst>
              <a:gd name="adj" fmla="val 5000"/>
            </a:avLst>
          </a:prstGeom>
          <a:solidFill>
            <a:srgbClr val="F5F0E6"/>
          </a:solidFill>
          <a:ln w="9525">
            <a:solidFill>
              <a:srgbClr val="D9C9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01600" tIns="101600" bIns="50800"/>
          <a:lstStyle/>
          <a:p>
            <a:pPr algn="l"/>
            <a:r>
              <a:rPr b="1" sz="1300">
                <a:solidFill>
                  <a:srgbClr val="1A1A1A"/>
                </a:solidFill>
                <a:latin typeface="Calibri"/>
              </a:rPr>
              <a:t>4 community meetings</a:t>
            </a:r>
            <a:r>
              <a:rPr b="0" sz="1200">
                <a:solidFill>
                  <a:srgbClr val="3A3A3A"/>
                </a:solidFill>
                <a:latin typeface="Calibri"/>
              </a:rPr>
              <a:t> conducted in Bedon Village supported by door-to-door IEC and continuous follow-ups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072384"/>
            <a:ext cx="6858000" cy="868680"/>
          </a:xfrm>
          <a:prstGeom prst="roundRect">
            <a:avLst>
              <a:gd name="adj" fmla="val 5000"/>
            </a:avLst>
          </a:prstGeom>
          <a:solidFill>
            <a:srgbClr val="F5F0E6"/>
          </a:solidFill>
          <a:ln w="9525">
            <a:solidFill>
              <a:srgbClr val="D9C9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01600" tIns="101600" bIns="50800"/>
          <a:lstStyle/>
          <a:p>
            <a:pPr algn="l"/>
            <a:r>
              <a:rPr b="1" sz="1300">
                <a:solidFill>
                  <a:srgbClr val="1A1A1A"/>
                </a:solidFill>
                <a:latin typeface="Calibri"/>
              </a:rPr>
              <a:t>Festival clean-ups</a:t>
            </a:r>
            <a:r>
              <a:rPr b="0" sz="1200">
                <a:solidFill>
                  <a:srgbClr val="3A3A3A"/>
                </a:solidFill>
                <a:latin typeface="Calibri"/>
              </a:rPr>
              <a:t> at Renuka Ji Temple across 2 major events — Diwali &amp; Shivratri — targeting peak waste generation periods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52360" y="1005840"/>
            <a:ext cx="4389120" cy="1920240"/>
          </a:xfrm>
          <a:prstGeom prst="roundRect">
            <a:avLst>
              <a:gd name="adj" fmla="val 5000"/>
            </a:avLst>
          </a:prstGeom>
          <a:solidFill>
            <a:srgbClr val="F5C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27000" tIns="127000" bIns="101600"/>
          <a:lstStyle/>
          <a:p>
            <a:pPr algn="l"/>
            <a:r>
              <a:rPr b="0" sz="1200">
                <a:solidFill>
                  <a:srgbClr val="1A1A1A"/>
                </a:solidFill>
                <a:latin typeface="Calibri"/>
              </a:rPr>
              <a:t>Panchayat engagement across Dadahu &amp; Khalakeyar Panchayats — resulting in a dedicated Waste Bank allocation to support the programme's collection and storage operations.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3657600"/>
            <a:ext cx="3776472" cy="2880360"/>
          </a:xfrm>
          <a:prstGeom prst="roundRect">
            <a:avLst>
              <a:gd name="adj" fmla="val 5000"/>
            </a:avLst>
          </a:prstGeom>
          <a:solidFill>
            <a:srgbClr val="E8E8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A0A0A0"/>
                </a:solidFill>
                <a:latin typeface="Calibri"/>
              </a:rPr>
              <a:t>Photo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3657600"/>
            <a:ext cx="3776472" cy="2880360"/>
          </a:xfrm>
          <a:prstGeom prst="roundRect">
            <a:avLst>
              <a:gd name="adj" fmla="val 5000"/>
            </a:avLst>
          </a:prstGeom>
          <a:solidFill>
            <a:srgbClr val="E8E8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A0A0A0"/>
                </a:solidFill>
                <a:latin typeface="Calibri"/>
              </a:rPr>
              <a:t>Photo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657600"/>
            <a:ext cx="3776472" cy="2880360"/>
          </a:xfrm>
          <a:prstGeom prst="roundRect">
            <a:avLst>
              <a:gd name="adj" fmla="val 5000"/>
            </a:avLst>
          </a:prstGeom>
          <a:solidFill>
            <a:srgbClr val="E8E8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A0A0A0"/>
                </a:solidFill>
                <a:latin typeface="Calibri"/>
              </a:rPr>
              <a:t>Photo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