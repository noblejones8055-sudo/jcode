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228600"/>
            <a:ext cx="63093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000">
                <a:solidFill>
                  <a:srgbClr val="2D6A4F"/>
                </a:solidFill>
                <a:latin typeface="Calibri"/>
              </a:rPr>
              <a:t>IEC Initiatives in Renuka 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6858000" cy="868680"/>
          </a:xfrm>
          <a:prstGeom prst="roundRect">
            <a:avLst>
              <a:gd name="adj" fmla="val 5000"/>
            </a:avLst>
          </a:prstGeom>
          <a:solidFill>
            <a:srgbClr val="F5F0E6"/>
          </a:solidFill>
          <a:ln w="9525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01600" bIns="50800"/>
          <a:lstStyle/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20+ clean-up drives</a:t>
            </a:r>
            <a:r>
              <a:rPr b="0" sz="1200">
                <a:solidFill>
                  <a:srgbClr val="3A3A3A"/>
                </a:solidFill>
                <a:latin typeface="Calibri"/>
              </a:rPr>
              <a:t> organised in Renuka Ji Wildlife Sanctuary periphery in partnership with Seva Samiti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39112"/>
            <a:ext cx="6858000" cy="868680"/>
          </a:xfrm>
          <a:prstGeom prst="roundRect">
            <a:avLst>
              <a:gd name="adj" fmla="val 5000"/>
            </a:avLst>
          </a:prstGeom>
          <a:solidFill>
            <a:srgbClr val="F5F0E6"/>
          </a:solidFill>
          <a:ln w="9525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01600" bIns="50800"/>
          <a:lstStyle/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4 community meetings</a:t>
            </a:r>
            <a:r>
              <a:rPr b="0" sz="1200">
                <a:solidFill>
                  <a:srgbClr val="3A3A3A"/>
                </a:solidFill>
                <a:latin typeface="Calibri"/>
              </a:rPr>
              <a:t> conducted in Bedon Village supported by door-to-door IEC and continuous follow-ups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072384"/>
            <a:ext cx="6858000" cy="868680"/>
          </a:xfrm>
          <a:prstGeom prst="roundRect">
            <a:avLst>
              <a:gd name="adj" fmla="val 5000"/>
            </a:avLst>
          </a:prstGeom>
          <a:solidFill>
            <a:srgbClr val="F5F0E6"/>
          </a:solidFill>
          <a:ln w="9525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01600" bIns="50800"/>
          <a:lstStyle/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Festival clean-ups</a:t>
            </a:r>
            <a:r>
              <a:rPr b="0" sz="1200">
                <a:solidFill>
                  <a:srgbClr val="3A3A3A"/>
                </a:solidFill>
                <a:latin typeface="Calibri"/>
              </a:rPr>
              <a:t> at Renuka Ji Temple across 2 major events — Diwali &amp; Shivratri — targeting peak waste generation periods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105656"/>
            <a:ext cx="6858000" cy="868680"/>
          </a:xfrm>
          <a:prstGeom prst="roundRect">
            <a:avLst>
              <a:gd name="adj" fmla="val 5000"/>
            </a:avLst>
          </a:prstGeom>
          <a:solidFill>
            <a:srgbClr val="F5F0E6"/>
          </a:solidFill>
          <a:ln w="9525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101600" bIns="50800"/>
          <a:lstStyle/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Green Renuka Ji Fair 2025</a:t>
            </a:r>
            <a:r>
              <a:rPr b="0" sz="1200">
                <a:solidFill>
                  <a:srgbClr val="3A3A3A"/>
                </a:solidFill>
                <a:latin typeface="Calibri"/>
              </a:rPr>
              <a:t> 3rd edition — 10.2 MT dry waste collected, 5,550 kgs recycled across 500 stalls; compliance rate reached 99.4% by Day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005840"/>
            <a:ext cx="4389120" cy="2926080"/>
          </a:xfrm>
          <a:prstGeom prst="roundRect">
            <a:avLst>
              <a:gd name="adj" fmla="val 5000"/>
            </a:avLst>
          </a:prstGeom>
          <a:solidFill>
            <a:srgbClr val="F5C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 bIns="101600"/>
          <a:lstStyle/>
          <a:p>
            <a:pPr algn="l"/>
            <a:r>
              <a:rPr b="0" sz="1100">
                <a:solidFill>
                  <a:srgbClr val="1A1A1A"/>
                </a:solidFill>
                <a:latin typeface="Calibri"/>
              </a:rPr>
              <a:t>Panchayat engagement across Dadahu &amp; Khalakeyar Panchayats — resulting in a dedicated Waste Bank allocation.
Green Renuka Ji Fair 2025 — Key Impact:
</a:t>
            </a:r>
          </a:p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10.2 MT  </a:t>
            </a:r>
            <a:r>
              <a:rPr b="0" sz="1000">
                <a:solidFill>
                  <a:srgbClr val="3C2800"/>
                </a:solidFill>
                <a:latin typeface="Calibri"/>
              </a:rPr>
              <a:t>Dry Waste Collected</a:t>
            </a:r>
          </a:p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5,550 kgs  </a:t>
            </a:r>
            <a:r>
              <a:rPr b="0" sz="1000">
                <a:solidFill>
                  <a:srgbClr val="3C2800"/>
                </a:solidFill>
                <a:latin typeface="Calibri"/>
              </a:rPr>
              <a:t>Waste Recycled</a:t>
            </a:r>
          </a:p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99.4%  </a:t>
            </a:r>
            <a:r>
              <a:rPr b="0" sz="1000">
                <a:solidFill>
                  <a:srgbClr val="3C2800"/>
                </a:solidFill>
                <a:latin typeface="Calibri"/>
              </a:rPr>
              <a:t>Peak Compliance (Day 3)</a:t>
            </a:r>
          </a:p>
          <a:p>
            <a:pPr algn="l"/>
            <a:r>
              <a:rPr b="1" sz="1300">
                <a:solidFill>
                  <a:srgbClr val="1A1A1A"/>
                </a:solidFill>
                <a:latin typeface="Calibri"/>
              </a:rPr>
              <a:t>500 Stalls  </a:t>
            </a:r>
            <a:r>
              <a:rPr b="0" sz="1000">
                <a:solidFill>
                  <a:srgbClr val="3C2800"/>
                </a:solidFill>
                <a:latin typeface="Calibri"/>
              </a:rPr>
              <a:t>Monitored at Fair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657600"/>
            <a:ext cx="3776472" cy="288036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0A0A0"/>
                </a:solidFill>
                <a:latin typeface="Calibri"/>
              </a:rPr>
              <a:t>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657600"/>
            <a:ext cx="3776472" cy="288036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0A0A0"/>
                </a:solidFill>
                <a:latin typeface="Calibri"/>
              </a:rPr>
              <a:t>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657600"/>
            <a:ext cx="3776472" cy="288036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0A0A0"/>
                </a:solidFill>
                <a:latin typeface="Calibri"/>
              </a:rPr>
              <a:t>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