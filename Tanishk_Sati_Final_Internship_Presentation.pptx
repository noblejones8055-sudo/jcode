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9E0B"/>
                </a:solidFill>
                <a:latin typeface="Calibri"/>
              </a:rPr>
              <a:t>SUMMER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Final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2377440"/>
            <a:ext cx="7616952" cy="457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6EEF0"/>
                </a:solidFill>
                <a:latin typeface="Calibri"/>
              </a:rPr>
              <a:t>CSRWorks International  ·  Tanishk Sati  ·  Sustainability Intern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00400"/>
            <a:ext cx="5029200" cy="100584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Assignment 1
Website Enhancement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3200400"/>
            <a:ext cx="5029200" cy="100584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Assignment 2
Sustainability Certifications &amp; Coalitions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Prepared by: Tanishk Sati, Sustainability Intern  |  CSRWorks International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92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Calibri"/>
              </a:rPr>
              <a:t>Date: June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6C75"/>
                </a:solidFill>
                <a:latin typeface="Calibri"/>
              </a:rPr>
              <a:t>Assignment 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887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Technical Issues Identified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1887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76C75"/>
                </a:solidFill>
                <a:latin typeface="Calibri"/>
              </a:rPr>
              <a:t>Slides 4 –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36192"/>
            <a:ext cx="530352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54864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6916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Recommendations (10 items)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9164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76C75"/>
                </a:solidFill>
                <a:latin typeface="Calibri"/>
              </a:rPr>
              <a:t>Slides 6 –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039112"/>
            <a:ext cx="530352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194560"/>
            <a:ext cx="54864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1945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Problem Statement &amp; Solution Offered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19456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76C75"/>
                </a:solidFill>
                <a:latin typeface="Calibri"/>
              </a:rPr>
              <a:t>Slides 9 – 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42032"/>
            <a:ext cx="530352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697480"/>
            <a:ext cx="54864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26974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69748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76C75"/>
                </a:solidFill>
                <a:latin typeface="Calibri"/>
              </a:rPr>
              <a:t>Slide 11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044952"/>
            <a:ext cx="530352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777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76C75"/>
                </a:solidFill>
                <a:latin typeface="Calibri"/>
              </a:rPr>
              <a:t>Assignment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188720"/>
            <a:ext cx="54864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11887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Overview: Certifications &amp; Coalitions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11887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76C75"/>
                </a:solidFill>
                <a:latin typeface="Calibri"/>
              </a:rPr>
              <a:t>Slides 13 – 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1536192"/>
            <a:ext cx="530352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1691640"/>
            <a:ext cx="54864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16916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OHS Certifications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16916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76C75"/>
                </a:solidFill>
                <a:latin typeface="Calibri"/>
              </a:rPr>
              <a:t>Slide 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039112"/>
            <a:ext cx="530352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2194560"/>
            <a:ext cx="54864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21945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Cybersecurity Certifications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219456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76C75"/>
                </a:solidFill>
                <a:latin typeface="Calibri"/>
              </a:rPr>
              <a:t>Slide 16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542032"/>
            <a:ext cx="530352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2697480"/>
            <a:ext cx="54864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269748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Green Building Certifications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0" y="269748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76C75"/>
                </a:solidFill>
                <a:latin typeface="Calibri"/>
              </a:rPr>
              <a:t>Slide 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044952"/>
            <a:ext cx="530352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00800" y="3200400"/>
            <a:ext cx="54864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3200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Sustainability Coalitions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98480" y="320040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76C75"/>
                </a:solidFill>
                <a:latin typeface="Calibri"/>
              </a:rPr>
              <a:t>Slides 18 – 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3547872"/>
            <a:ext cx="530352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3703320"/>
            <a:ext cx="54864" cy="2743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370332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Annexures (A – F)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98480" y="37033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176C75"/>
                </a:solidFill>
                <a:latin typeface="Calibri"/>
              </a:rPr>
              <a:t>Slides 21 – 32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4050791"/>
            <a:ext cx="5303520" cy="182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2 / 32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ASSIGNMENT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Enhancing User Experience &amp; Engagement
CSRWorks International Website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246120"/>
            <a:ext cx="7616952" cy="457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EF0"/>
                </a:solidFill>
                <a:latin typeface="Calibri"/>
              </a:rPr>
              <a:t>Technical Issues  ·  10 Recommendations  ·  Problem-Solution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Technical Issues Identified  |  Issues 1 – 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2148840" cy="562356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214884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768096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Issue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52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C75"/>
                </a:solidFill>
                <a:latin typeface="Calibri"/>
              </a:rPr>
              <a:t>Navigation Redirect — Our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83080"/>
            <a:ext cx="1993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'Our Services' tab redirects to Sustainability Services page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Users expect a services overview, not a direct landing page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749808"/>
            <a:ext cx="2148840" cy="562356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749808"/>
            <a:ext cx="214884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912" y="768096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Issue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152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C75"/>
                </a:solidFill>
                <a:latin typeface="Calibri"/>
              </a:rPr>
              <a:t>Non-Responsive Icon — Our Services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783080"/>
            <a:ext cx="1993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'Our Services' icon is non-responsive / not clickable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Breaks user journey for first-time visitors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749808"/>
            <a:ext cx="2148840" cy="562356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749808"/>
            <a:ext cx="214884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072" y="768096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Issue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1152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C75"/>
                </a:solidFill>
                <a:latin typeface="Calibri"/>
              </a:rPr>
              <a:t>Non-Responsive Icon — Sustainability Consulting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59" y="1783080"/>
            <a:ext cx="1993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Icon within Sustainability Consulting section is non-responsive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Reduces perceived site quality and credibility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749808"/>
            <a:ext cx="2148840" cy="562356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749808"/>
            <a:ext cx="214884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1231" y="768096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Issue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1152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C75"/>
                </a:solidFill>
                <a:latin typeface="Calibri"/>
              </a:rPr>
              <a:t>Redirect to EcoVadis — Consulting Page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1783080"/>
            <a:ext cx="1993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'Sustainability Consulting' tab redirects externally to EcoVadis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Users lose brand context; should remain on CSRWorks domain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749808"/>
            <a:ext cx="2148840" cy="562356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40" y="749808"/>
            <a:ext cx="214884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94392" y="768096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Issue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152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C75"/>
                </a:solidFill>
                <a:latin typeface="Calibri"/>
              </a:rPr>
              <a:t>Broken Links — Contact Us &amp; Training 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1783080"/>
            <a:ext cx="1993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'Contact Us' and 'Training Registration Form' links are broken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Direct loss of leads and training sign-ups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4 / 32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Technical Issues Identified  |  Issues 6 –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2148840" cy="562356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214884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768096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Issue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52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C75"/>
                </a:solidFill>
                <a:latin typeface="Calibri"/>
              </a:rPr>
              <a:t>Non-Responsive Icon — Materiality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83080"/>
            <a:ext cx="1993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Icon on Materiality sub-page is non-responsive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Inconsistent UX across consulting sub-pages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749808"/>
            <a:ext cx="2148840" cy="562356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749808"/>
            <a:ext cx="214884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24912" y="768096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Issue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152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C75"/>
                </a:solidFill>
                <a:latin typeface="Calibri"/>
              </a:rPr>
              <a:t>Outdated DJSI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783080"/>
            <a:ext cx="1993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DJSI timeline on Sustainability Consulting page is outdated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Reflects stale data — erodes trust with informed stakeholders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749808"/>
            <a:ext cx="2148840" cy="562356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74920" y="749808"/>
            <a:ext cx="214884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072" y="768096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Issue 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1152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C75"/>
                </a:solidFill>
                <a:latin typeface="Calibri"/>
              </a:rPr>
              <a:t>Expired Copyright Notice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59" y="1783080"/>
            <a:ext cx="1993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Footer copyright year is expired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Minor but signals lack of regular site maintenance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749808"/>
            <a:ext cx="2148840" cy="562356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749808"/>
            <a:ext cx="214884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1231" y="768096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Issue 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1152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C75"/>
                </a:solidFill>
                <a:latin typeface="Calibri"/>
              </a:rPr>
              <a:t>Newsletter Page Empty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1783080"/>
            <a:ext cx="1993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Newsletter page linked to Mailchimp is blank/empty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Missed opportunity for audience engagement &amp; lead capture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40" y="749808"/>
            <a:ext cx="2148840" cy="562356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21240" y="749808"/>
            <a:ext cx="214884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94392" y="768096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Issue 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12680" y="1152144"/>
            <a:ext cx="19933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76C75"/>
                </a:solidFill>
                <a:latin typeface="Calibri"/>
              </a:rPr>
              <a:t>Broken Page — Asia's Top Sustainability Superwomen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1783080"/>
            <a:ext cx="199339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Link to 'Asia's Top Sustainability Superwomen' redirects to an error page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High-visibility award section damaged — reputational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5 / 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Recommendations  |  1 – 4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5760720" cy="251460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576072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13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Rec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8138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Freeze Primary Navigation Tab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Sticky/frozen primary tab ensures navigation is always accessible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Improves usability especially on long-scroll pages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Reference: Impactree (rubicr.ai)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777240"/>
            <a:ext cx="5760720" cy="251460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777240"/>
            <a:ext cx="576072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813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Rec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8138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Add 'Request a Demo' Floating Button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1887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Persistent CTA button at bottom-right corner of all pages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Form fields: Name, Work Email, Contact No., Organisation, Sector, Preferred Hours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Drives direct lead generation without page navigation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520440"/>
            <a:ext cx="5760720" cy="251460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520440"/>
            <a:ext cx="576072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5570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Rec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570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Revamp 'About Us' Section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9319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Replace static page with structured drop-down sections: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About CSRWorks International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Leadership &amp; Team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Our Partners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Key Milestones &amp; Achievements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520440"/>
            <a:ext cx="5760720" cy="251460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520440"/>
            <a:ext cx="576072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35570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Rec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5570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Refresh Homepage Background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9319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Replace current background with high-quality ESG / sustainability visual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Image should reflect Asia-Pacific context and professionalism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Align visual tone with premium consulting brand positioning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6 / 32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Recommendations  |  5 – 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5760720" cy="251460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576072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13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Rec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8138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List Client Sectors in Alphabetical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Current listing is random; alphabetical ordering improves readability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Signals operational rigour and attention to detail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777240"/>
            <a:ext cx="5760720" cy="251460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777240"/>
            <a:ext cx="576072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8138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Rec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8138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Display Client Logos on Homepage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1887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Logos build instant social proof and credibility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Dedicated 'Our Clients' section on homepage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Reference: South Pole, Impactree (rubicr.ai)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520440"/>
            <a:ext cx="5760720" cy="251460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3520440"/>
            <a:ext cx="576072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5570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Rec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5570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Add Client Testimonials Section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9319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Short testimonials from named clients + company + title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Rotating carousel or static quotes section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Reference: Impactree (rubicr.ai)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3520440"/>
            <a:ext cx="5760720" cy="251460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520440"/>
            <a:ext cx="576072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59" y="355701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Rec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55701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Redesign Homepage with 4 Service Pillars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93192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Organise homepage around four pillars: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Sustainability Consulting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Sustainability Report Assurance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Sustainability Training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Thought Leadership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Each pillar: Problem Statement + Solution + Link to Service Page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Reference: Anthesis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7 / 32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Recommendations  |  9 –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11731752" cy="260604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11731752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1381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Rec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81381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Asia Integrated Reporting Awards (AIRA) / Asia Sustainability Reporting Awards (ASRA)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1145743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Website font colour to be darkened for Primary Tab and content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Fixed floating dialogue box on right: include entry form &amp; awards category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Add toggle (top-right corner) to switch between AIRA &amp; ASRA views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Avoid cross-link redirections between AIRA and ASRA within body content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Ensure award submission pages remain on CSRWorks domain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3566160"/>
            <a:ext cx="11731752" cy="260604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3566160"/>
            <a:ext cx="11731752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60273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Rec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027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Asia Sustainability Reporting Summit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977639"/>
            <a:ext cx="1145743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Remove year (2023) from the Summit title to keep it evergreen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Symbol next to 'Summit' and 'Sponsors' is not visible — fix icon rendering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Freeze primary navigation tab on summit page (consistent with Rec 1)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Update all content from Summit 2023 to current/upcoming edition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Ensure past summit archives are clearly dated and accessible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8 / 32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Problem Statement &amp; Solution Offered  |  Core Services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5760720" cy="260604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5760720" cy="32004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7863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Sustainability Reporting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1133856"/>
            <a:ext cx="77724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133856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344168"/>
            <a:ext cx="55046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alibri"/>
              </a:rPr>
              <a:t>Companies have ESG data scattered across departments in various formats, making it difficult to produce cohesive reports.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2075688"/>
            <a:ext cx="777240" cy="1828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207568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304288"/>
            <a:ext cx="55046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alibri"/>
              </a:rPr>
              <a:t>CSRWorks provides custom data templates and a centralized collection process to organize unstructured data into a professional report meeting global standards.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749808"/>
            <a:ext cx="5760720" cy="260604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749808"/>
            <a:ext cx="5760720" cy="32004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7863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Materiality Assessment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1133856"/>
            <a:ext cx="77724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133856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344168"/>
            <a:ext cx="55046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alibri"/>
              </a:rPr>
              <a:t>Organizations often find materiality assessments overwhelming and struggle to prioritize their ESG issues.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7648" y="2075688"/>
            <a:ext cx="777240" cy="1828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207568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304288"/>
            <a:ext cx="55046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alibri"/>
              </a:rPr>
              <a:t>CSRWorks simplifies the process by identifying most significant business impacts and producing a clear materiality matrix to ensure optimal resource allocation.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3493008"/>
            <a:ext cx="5760720" cy="260604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3493008"/>
            <a:ext cx="5760720" cy="32004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" y="35295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Stakeholder Engagement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" y="3877056"/>
            <a:ext cx="77724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3877056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" y="4087368"/>
            <a:ext cx="55046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alibri"/>
              </a:rPr>
              <a:t>Companies often face difficulty identifying which stakeholder groups to prioritize or how to translate feedback into actionable reporting data.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" y="4818888"/>
            <a:ext cx="777240" cy="1828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481888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5047488"/>
            <a:ext cx="55046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alibri"/>
              </a:rPr>
              <a:t>CSRWorks implements a structured engagement process that satisfies GRI requirements and provides the specific insights needed for high-quality disclosure.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493008"/>
            <a:ext cx="5760720" cy="260604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3493008"/>
            <a:ext cx="5760720" cy="32004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3529584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Professional Training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27648" y="3877056"/>
            <a:ext cx="777240" cy="182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27648" y="3877056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27648" y="4087368"/>
            <a:ext cx="55046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alibri"/>
              </a:rPr>
              <a:t>Internal teams often lack the technical knowledge required to meet new and complex global disclosure requirements like ISSB, GRI, and CSRD.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27648" y="4818888"/>
            <a:ext cx="777240" cy="1828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4818888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5047488"/>
            <a:ext cx="550468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1A1A1A"/>
                </a:solidFill>
                <a:latin typeface="Calibri"/>
              </a:rPr>
              <a:t>CSRWorks provides certified, practitioner-level training equipping teams with technical skills needed to lead sustainability reporting and compliance in-house.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Problem Statement &amp; Solution Offered  |  Assurance &amp; Ratings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22960"/>
            <a:ext cx="5760720" cy="539496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576072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868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External Assurance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" y="1325880"/>
            <a:ext cx="77724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32588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572768"/>
            <a:ext cx="550468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Without independent validation, sustainability disclosures are viewed as self-claims, making them easy for investors and regulators to dismiss.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337560"/>
            <a:ext cx="777240" cy="201168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33375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3611879"/>
            <a:ext cx="550468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CSRWorks provides AA1000-aligned independent assurance that verifies data accuracy, giving the Board and external stakeholders absolute confidence in the report.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822960"/>
            <a:ext cx="5760720" cy="539496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822960"/>
            <a:ext cx="5760720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8686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Ratings &amp; Indices — DJSI, CDP, EcoVadis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27648" y="1325880"/>
            <a:ext cx="777240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132588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572768"/>
            <a:ext cx="550468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Companies lose competitive advantage and access to capital by failing to achieve high scores in complex ESG rating submissions.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27648" y="3337560"/>
            <a:ext cx="777240" cy="201168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337560"/>
            <a:ext cx="777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611879"/>
            <a:ext cx="5504688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A1A1A"/>
                </a:solidFill>
                <a:latin typeface="Calibri"/>
              </a:rPr>
              <a:t>CSRWorks provides services from gap analysis to full submission support to improve performance in global benchmarks like DJSI, CDP, and EcoVadis.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10 / 32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References  |  Assignment 1 — Website Enhancement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76C75"/>
                </a:solidFill>
                <a:latin typeface="Calibri"/>
              </a:rPr>
              <a:t>Website References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61872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CSRWorks International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76C75"/>
                </a:solidFill>
                <a:latin typeface="Calibri"/>
              </a:rPr>
              <a:t>csrworks.com.sg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Impactree / rubicr.ai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45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76C75"/>
                </a:solidFill>
                <a:latin typeface="Calibri"/>
              </a:rPr>
              <a:t>rubicr.ai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76272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Anthesis Group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103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76C75"/>
                </a:solidFill>
                <a:latin typeface="Calibri"/>
              </a:rPr>
              <a:t>anthesisgroup.com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33472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South Pole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76C75"/>
                </a:solidFill>
                <a:latin typeface="Calibri"/>
              </a:rPr>
              <a:t>southpole.com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90672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Nangia &amp; Co LLP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017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76C75"/>
                </a:solidFill>
                <a:latin typeface="Calibri"/>
              </a:rPr>
              <a:t>nangia.com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47872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Consultivo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3474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76C75"/>
                </a:solidFill>
                <a:latin typeface="Calibri"/>
              </a:rPr>
              <a:t>consultivo.com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05072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ERM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931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76C75"/>
                </a:solidFill>
                <a:latin typeface="Calibri"/>
              </a:rPr>
              <a:t>erm.com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462272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PwC Sustainability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3891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76C75"/>
                </a:solidFill>
                <a:latin typeface="Calibri"/>
              </a:rPr>
              <a:t>pwc.com/sustainability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919472"/>
            <a:ext cx="73152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EY Climate Change &amp; Sustainability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846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76C75"/>
                </a:solidFill>
                <a:latin typeface="Calibri"/>
              </a:rPr>
              <a:t>ey.com/en_gl/climate-change-sustainability-services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11 / 32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6C7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Assignment 1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EF0"/>
                </a:solidFill>
                <a:latin typeface="Calibri"/>
              </a:rPr>
              <a:t>10 technical issues documented  ·  10 recommendations delivered  ·  Service problem-solution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12 / 32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59E0B"/>
                </a:solidFill>
                <a:latin typeface="Calibri"/>
              </a:rPr>
              <a:t>ASSIGNMENT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574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Sustainability Certifications
&amp; Coalitions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246120"/>
            <a:ext cx="7616952" cy="457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EF0"/>
                </a:solidFill>
                <a:latin typeface="Calibri"/>
              </a:rPr>
              <a:t>OHS  ·  Cybersecurity  ·  Green Building  ·  Sustainability Coalitions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13 / 32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Sustainability Certifications &amp; Coalitions  | 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2816352" cy="5577840"/>
          </a:xfrm>
          <a:prstGeom prst="rect">
            <a:avLst/>
          </a:prstGeom>
          <a:solidFill>
            <a:srgbClr val="D6EEF0"/>
          </a:solidFill>
          <a:ln w="1016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28163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804672"/>
            <a:ext cx="26334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Occupational
Health &amp; 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" y="1508760"/>
            <a:ext cx="257860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Calibri"/>
              </a:rPr>
              <a:t>• ISO 45001, OHSAS 18001, NEBOSH IGC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OSHA VPP (USA), ANSI Z10, CSA Z1000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SABS OHSAS (SA), JISHA (JP)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KOSHA OSHMS (KR), DOSH OSHMS (MY)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76C75"/>
                </a:solidFill>
                <a:latin typeface="Calibri"/>
              </a:rPr>
              <a:t>• 10 certifications covered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7832" y="777240"/>
            <a:ext cx="2816352" cy="5577840"/>
          </a:xfrm>
          <a:prstGeom prst="rect">
            <a:avLst/>
          </a:prstGeom>
          <a:solidFill>
            <a:srgbClr val="D6EEF0"/>
          </a:solidFill>
          <a:ln w="1016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27832" y="777240"/>
            <a:ext cx="2816352" cy="6400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804672"/>
            <a:ext cx="26334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Cybersecurity &amp;
Info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508760"/>
            <a:ext cx="257860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Calibri"/>
              </a:rPr>
              <a:t>• ISO/IEC 27001, SOC 2 (AICPA)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FedRAMP, CMMC, NIST CSF (USA)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CSA STAR, Common Criteria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Cyber Essentials (UK), ISMS-P (KR)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0C2340"/>
                </a:solidFill>
                <a:latin typeface="Calibri"/>
              </a:rPr>
              <a:t>• 10 certifications covered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27064" y="777240"/>
            <a:ext cx="2816352" cy="5577840"/>
          </a:xfrm>
          <a:prstGeom prst="rect">
            <a:avLst/>
          </a:prstGeom>
          <a:solidFill>
            <a:srgbClr val="D6EEF0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27064" y="777240"/>
            <a:ext cx="2816352" cy="6400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804672"/>
            <a:ext cx="26334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Green Building
Certifications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1508760"/>
            <a:ext cx="257860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Calibri"/>
              </a:rPr>
              <a:t>• Americas: LEED, WELL, LBC, BOMA 360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Europe: BREEAM, DGNB, HQE, MINERGIE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Middle East/Africa: Estidama, Green Star SA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Asia-Pacific: 9 certifications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2E7D32"/>
                </a:solidFill>
                <a:latin typeface="Calibri"/>
              </a:rPr>
              <a:t>• 19 certifications across 8 regions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26296" y="777240"/>
            <a:ext cx="2816352" cy="5577840"/>
          </a:xfrm>
          <a:prstGeom prst="rect">
            <a:avLst/>
          </a:prstGeom>
          <a:solidFill>
            <a:srgbClr val="D6EEF0"/>
          </a:solidFill>
          <a:ln w="10160"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26296" y="777240"/>
            <a:ext cx="2816352" cy="64008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36024" y="804672"/>
            <a:ext cx="2633472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Sustainability
Coalitions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1508760"/>
            <a:ext cx="2578608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A1A1A"/>
                </a:solidFill>
                <a:latin typeface="Calibri"/>
              </a:rPr>
              <a:t>• SBTi, RE100, EP100, EV100, ACT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UN Global Compact, WBCSD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RBA, Equator Principles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A1A1A"/>
                </a:solidFill>
                <a:latin typeface="Calibri"/>
              </a:rPr>
              <a:t>• Ellen MacArthur Foundation, SmartWay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A237E"/>
                </a:solidFill>
                <a:latin typeface="Calibri"/>
              </a:rPr>
              <a:t>• 11 coalitions covered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14 / 32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Occupational Health &amp; Safety Certifications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3703320" cy="5577840"/>
          </a:xfrm>
          <a:prstGeom prst="rect">
            <a:avLst/>
          </a:prstGeom>
          <a:solidFill>
            <a:srgbClr val="D6EEF0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370332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Global Standards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15568"/>
            <a:ext cx="3611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155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ISO 45001:2018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1115568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444444"/>
                </a:solidFill>
                <a:latin typeface="Calibri"/>
              </a:rPr>
              <a:t>ISO —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31673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Gold standard OHSMS. Gap analysis → docs → internal audit → Stage 1+2 CB audit → 3-yr cert + annual surveillance.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73936"/>
            <a:ext cx="3611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77393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OHSAS 18001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77393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444444"/>
                </a:solidFill>
                <a:latin typeface="Calibri"/>
              </a:rPr>
              <a:t>BSI/CBs — UK/Global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197510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Legacy standard superseded by ISO 45001. Risk assessment → policy → CB audit.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32304"/>
            <a:ext cx="3611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4323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  <a:latin typeface="Calibri"/>
              </a:rPr>
              <a:t>NEBOSH IGC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43230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444444"/>
                </a:solidFill>
                <a:latin typeface="Calibri"/>
              </a:rPr>
              <a:t>NEBOSH — UK/Global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26334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Individual qualification for EHS professionals. Open-book exam + practical assessment.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69080" y="749808"/>
            <a:ext cx="3703320" cy="5577840"/>
          </a:xfrm>
          <a:prstGeom prst="rect">
            <a:avLst/>
          </a:prstGeom>
          <a:solidFill>
            <a:srgbClr val="D6EEF0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9080" y="749808"/>
            <a:ext cx="370332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76809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Western Nations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1115568"/>
            <a:ext cx="3611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111556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47E00"/>
                </a:solidFill>
                <a:latin typeface="Calibri"/>
              </a:rPr>
              <a:t>OSHA VPP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1115568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444444"/>
                </a:solidFill>
                <a:latin typeface="Calibri"/>
              </a:rPr>
              <a:t>OSHA — USA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131673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Apply to OSHA → site evaluation → Star/Merit/Developmental status → annual re-evaluation.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1773936"/>
            <a:ext cx="3611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60520" y="177393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47E00"/>
                </a:solidFill>
                <a:latin typeface="Calibri"/>
              </a:rPr>
              <a:t>ANSI Z10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1773936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444444"/>
                </a:solidFill>
                <a:latin typeface="Calibri"/>
              </a:rPr>
              <a:t>ANSI — USA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197510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Voluntary OHS management system standard for US organizations.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0" y="2432304"/>
            <a:ext cx="3611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60520" y="24323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47E00"/>
                </a:solidFill>
                <a:latin typeface="Calibri"/>
              </a:rPr>
              <a:t>CSA Z1000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432304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444444"/>
                </a:solidFill>
                <a:latin typeface="Calibri"/>
              </a:rPr>
              <a:t>CSA — Canada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26334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Canadian OHS management system standard aligned to ISO 45001.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0" y="3090672"/>
            <a:ext cx="361188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0520" y="309067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47E00"/>
                </a:solidFill>
                <a:latin typeface="Calibri"/>
              </a:rPr>
              <a:t>SABS OHSAS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090672"/>
            <a:ext cx="117043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444444"/>
                </a:solidFill>
                <a:latin typeface="Calibri"/>
              </a:rPr>
              <a:t>SABS — South Africa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3291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Apply to SABS or accredited CB → gap analysis → internal audit → certification.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09560" y="749808"/>
            <a:ext cx="4050791" cy="5577840"/>
          </a:xfrm>
          <a:prstGeom prst="rect">
            <a:avLst/>
          </a:prstGeom>
          <a:solidFill>
            <a:srgbClr val="D6EEF0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09560" y="749808"/>
            <a:ext cx="4050791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1000" y="768096"/>
            <a:ext cx="3913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Asian Standards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79" y="1115568"/>
            <a:ext cx="395935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1000" y="111556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Calibri"/>
              </a:rPr>
              <a:t>JISHA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1115568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444444"/>
                </a:solidFill>
                <a:latin typeface="Calibri"/>
              </a:rPr>
              <a:t>JISHA — Japan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1316736"/>
            <a:ext cx="3913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Apply to JISHA → documentation review → on-site audit → certificate + surveillance.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79" y="1773936"/>
            <a:ext cx="395935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01000" y="177393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Calibri"/>
              </a:rPr>
              <a:t>KOSHA OSHMS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1773936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444444"/>
                </a:solidFill>
                <a:latin typeface="Calibri"/>
              </a:rPr>
              <a:t>KOSHA — South Korea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01000" y="1975104"/>
            <a:ext cx="3913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Apply to KOSHA → self-assessment → doc review → on-site audit → 3-yr cert + surveillance.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2432304"/>
            <a:ext cx="3959352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01000" y="243230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Calibri"/>
              </a:rPr>
              <a:t>DOSH OSHMS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2432304"/>
            <a:ext cx="13350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444444"/>
                </a:solidFill>
                <a:latin typeface="Calibri"/>
              </a:rPr>
              <a:t>DOSH — Malaysia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01000" y="2633472"/>
            <a:ext cx="3913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Adopt MS 1722 → implement OSHMS → internal audit → DOSH/CB audit → certificate.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28600" y="641908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Calibri"/>
              </a:rPr>
              <a:t>Full detail tables → See Annexure A (Slide 21)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Cybersecurity &amp; Information Security Certifications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49808"/>
            <a:ext cx="3858768" cy="5577840"/>
          </a:xfrm>
          <a:prstGeom prst="rect">
            <a:avLst/>
          </a:prstGeom>
          <a:solidFill>
            <a:srgbClr val="D6EEF0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49808"/>
            <a:ext cx="3858768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68096"/>
            <a:ext cx="3675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Global Standards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15568"/>
            <a:ext cx="376732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115568"/>
            <a:ext cx="23152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Calibri"/>
              </a:rPr>
              <a:t>ISO/IEC 27001:2022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316736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ISMS. Scope → risk assessment → controls → internal audit → Stage 1+2 CB audit → 3-yr cert.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737360"/>
            <a:ext cx="367588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  <a:latin typeface="Calibri"/>
              </a:rPr>
              <a:t>ISO/IEC — Global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75688"/>
            <a:ext cx="376732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075688"/>
            <a:ext cx="23152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Calibri"/>
              </a:rPr>
              <a:t>SOC 2 (AICPA)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276856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SaaS/cloud. Define Trust Service Criteria → readiness → CPA audit → Type I or II report.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2697480"/>
            <a:ext cx="367588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  <a:latin typeface="Calibri"/>
              </a:rPr>
              <a:t>AICPA — USA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35808"/>
            <a:ext cx="376732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035808"/>
            <a:ext cx="23152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Calibri"/>
              </a:rPr>
              <a:t>CSA STAR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3236976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Cloud Security Alliance. Level 1 (self-assessment) to Level 3 (continuous monitoring).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3657600"/>
            <a:ext cx="367588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  <a:latin typeface="Calibri"/>
              </a:rPr>
              <a:t>CSA — Global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995928"/>
            <a:ext cx="376732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995928"/>
            <a:ext cx="23152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D9488"/>
                </a:solidFill>
                <a:latin typeface="Calibri"/>
              </a:rPr>
              <a:t>Common Criteria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197096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IT security products. Security Target → CCTL lab testing → EAL1–EAL7 rating.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617720"/>
            <a:ext cx="367588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  <a:latin typeface="Calibri"/>
              </a:rPr>
              <a:t>CCRA — International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87952" y="749808"/>
            <a:ext cx="3858768" cy="5577840"/>
          </a:xfrm>
          <a:prstGeom prst="rect">
            <a:avLst/>
          </a:prstGeom>
          <a:solidFill>
            <a:srgbClr val="D6EEF0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87952" y="749808"/>
            <a:ext cx="3858768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79392" y="768096"/>
            <a:ext cx="3675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USA — Government &amp; Defense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33672" y="1115568"/>
            <a:ext cx="376732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9392" y="1115568"/>
            <a:ext cx="23152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FedRAMP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1316736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US federal cloud services. CSP initiates with Agency → 3PAO assessment → ATO or JAB P-ATO.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9392" y="1737360"/>
            <a:ext cx="367588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  <a:latin typeface="Calibri"/>
              </a:rPr>
              <a:t>GSA/NIST — USA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33672" y="2075688"/>
            <a:ext cx="376732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79392" y="2075688"/>
            <a:ext cx="23152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CMMC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9392" y="2276856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DoD contractors handling CUI. Level 1 self-assess; Level 2+ via C3PAO third-party assessment.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79392" y="2697480"/>
            <a:ext cx="367588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  <a:latin typeface="Calibri"/>
              </a:rPr>
              <a:t>US DoD — USA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33672" y="3035808"/>
            <a:ext cx="376732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9392" y="3035808"/>
            <a:ext cx="23152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NIST CSF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9392" y="3236976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Voluntary framework. Identify/Protect/Detect/Respond/Recover. Self-assess or 3rd-party assessment.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9392" y="3657600"/>
            <a:ext cx="367588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  <a:latin typeface="Calibri"/>
              </a:rPr>
              <a:t>NIST — USA/Global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47304" y="749808"/>
            <a:ext cx="3858768" cy="5577840"/>
          </a:xfrm>
          <a:prstGeom prst="rect">
            <a:avLst/>
          </a:prstGeom>
          <a:solidFill>
            <a:srgbClr val="D6EEF0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47304" y="749808"/>
            <a:ext cx="3858768" cy="3200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38744" y="768096"/>
            <a:ext cx="36758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Country-Specific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93024" y="1115568"/>
            <a:ext cx="376732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8744" y="1115568"/>
            <a:ext cx="23152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284C7"/>
                </a:solidFill>
                <a:latin typeface="Calibri"/>
              </a:rPr>
              <a:t>Cyber Essentials / Plus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38744" y="1316736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Mandatory for UK govt contracts. Self-assessment → NCSC-approved CB → annual cert.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38744" y="1737360"/>
            <a:ext cx="367588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  <a:latin typeface="Calibri"/>
              </a:rPr>
              <a:t>NCSC — UK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93024" y="2075688"/>
            <a:ext cx="3767328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38744" y="2075688"/>
            <a:ext cx="23152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284C7"/>
                </a:solidFill>
                <a:latin typeface="Calibri"/>
              </a:rPr>
              <a:t>ISMS-P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38744" y="2276856"/>
            <a:ext cx="36758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Mandatory for large Korean ICT companies. Apply to KISA → on-site audit → 3-yr cert.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2697480"/>
            <a:ext cx="367588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444444"/>
                </a:solidFill>
                <a:latin typeface="Calibri"/>
              </a:rPr>
              <a:t>KISA — South Korea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" y="641908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Calibri"/>
              </a:rPr>
              <a:t>Full detail tables → See Annexure B (Slide 22)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16 / 32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Green Building Certifications  |  Global 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04672"/>
            <a:ext cx="2103120" cy="2057400"/>
          </a:xfrm>
          <a:prstGeom prst="rect">
            <a:avLst/>
          </a:prstGeom>
          <a:solidFill>
            <a:srgbClr val="D6EEF0"/>
          </a:solidFill>
          <a:ln w="101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04672"/>
            <a:ext cx="2103120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841248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North America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1152144"/>
            <a:ext cx="19385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LEED · WELL
Living Building Challenge · BOMA 360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3063240"/>
            <a:ext cx="2103120" cy="2057400"/>
          </a:xfrm>
          <a:prstGeom prst="rect">
            <a:avLst/>
          </a:prstGeom>
          <a:solidFill>
            <a:srgbClr val="D6EEF0"/>
          </a:solidFill>
          <a:ln w="10160">
            <a:solidFill>
              <a:srgbClr val="558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3063240"/>
            <a:ext cx="2103120" cy="292608"/>
          </a:xfrm>
          <a:prstGeom prst="rect">
            <a:avLst/>
          </a:prstGeom>
          <a:solidFill>
            <a:srgbClr val="55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099816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South America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3410712"/>
            <a:ext cx="19385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LEED · EDGE
BREEAM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804672"/>
            <a:ext cx="2103120" cy="2057400"/>
          </a:xfrm>
          <a:prstGeom prst="rect">
            <a:avLst/>
          </a:prstGeom>
          <a:solidFill>
            <a:srgbClr val="D6EEF0"/>
          </a:solidFill>
          <a:ln w="1016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14600" y="804672"/>
            <a:ext cx="2103120" cy="2926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87752" y="841248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Europe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4328" y="1152144"/>
            <a:ext cx="19385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BREEAM · DGNB
HQE · MINERGIE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804672"/>
            <a:ext cx="2103120" cy="2057400"/>
          </a:xfrm>
          <a:prstGeom prst="rect">
            <a:avLst/>
          </a:prstGeom>
          <a:solidFill>
            <a:srgbClr val="D6EEF0"/>
          </a:solidFill>
          <a:ln w="101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804672"/>
            <a:ext cx="2103120" cy="29260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73752" y="841248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Middle East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0328" y="1152144"/>
            <a:ext cx="19385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Estidama (UAE)
EDGE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3063240"/>
            <a:ext cx="2103120" cy="2057400"/>
          </a:xfrm>
          <a:prstGeom prst="rect">
            <a:avLst/>
          </a:prstGeom>
          <a:solidFill>
            <a:srgbClr val="D6EEF0"/>
          </a:solidFill>
          <a:ln w="10160">
            <a:solidFill>
              <a:srgbClr val="0083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00600" y="3063240"/>
            <a:ext cx="2103120" cy="292608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3752" y="3099816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Africa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0328" y="3410712"/>
            <a:ext cx="19385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Green Star SA
EDGE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804672"/>
            <a:ext cx="2103120" cy="2057400"/>
          </a:xfrm>
          <a:prstGeom prst="rect">
            <a:avLst/>
          </a:prstGeom>
          <a:solidFill>
            <a:srgbClr val="D6EEF0"/>
          </a:solidFill>
          <a:ln w="1016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600" y="804672"/>
            <a:ext cx="2103120" cy="29260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59752" y="841248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South Asia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96328" y="1152144"/>
            <a:ext cx="19385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GRIHA · IGBC
EDGE (India)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3063240"/>
            <a:ext cx="2103120" cy="2057400"/>
          </a:xfrm>
          <a:prstGeom prst="rect">
            <a:avLst/>
          </a:prstGeom>
          <a:solidFill>
            <a:srgbClr val="D6EEF0"/>
          </a:solidFill>
          <a:ln w="101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86600" y="3063240"/>
            <a:ext cx="2103120" cy="292608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9752" y="3099816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SE Asia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96328" y="3410712"/>
            <a:ext cx="19385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Green Mark (SG)
GBI (MY) · LOTUS (VN)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72600" y="804672"/>
            <a:ext cx="2103120" cy="2057400"/>
          </a:xfrm>
          <a:prstGeom prst="rect">
            <a:avLst/>
          </a:prstGeom>
          <a:solidFill>
            <a:srgbClr val="D6EEF0"/>
          </a:solidFill>
          <a:ln w="1016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72600" y="804672"/>
            <a:ext cx="2103120" cy="292608"/>
          </a:xfrm>
          <a:prstGeom prst="rect">
            <a:avLst/>
          </a:prstGeom>
          <a:solidFill>
            <a:srgbClr val="027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45752" y="841248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East Asia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82328" y="1152144"/>
            <a:ext cx="19385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CASBEE (JP)
GBCS (KR) · China 3-Star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72600" y="3063240"/>
            <a:ext cx="2103120" cy="2057400"/>
          </a:xfrm>
          <a:prstGeom prst="rect">
            <a:avLst/>
          </a:prstGeom>
          <a:solidFill>
            <a:srgbClr val="D6EEF0"/>
          </a:solidFill>
          <a:ln w="10160">
            <a:solidFill>
              <a:srgbClr val="558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72600" y="3063240"/>
            <a:ext cx="2103120" cy="292608"/>
          </a:xfrm>
          <a:prstGeom prst="rect">
            <a:avLst/>
          </a:prstGeom>
          <a:solidFill>
            <a:srgbClr val="55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45752" y="3099816"/>
            <a:ext cx="1965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Oceania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82328" y="3410712"/>
            <a:ext cx="1938528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Green Star
(Australia/NZ)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" y="5806440"/>
            <a:ext cx="11731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76C75"/>
                </a:solidFill>
                <a:latin typeface="Calibri"/>
              </a:rPr>
              <a:t>19 certifications across 8+ regions  ·  New additions: WELL, LBC, DGNB, HQE, MINERGIE, Estidama, Green Star SA, BOMA 360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8600" y="641908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Calibri"/>
              </a:rPr>
              <a:t>Full detail tables → See Annexures C1 &amp; C2 (Slides 23 – 24)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17 / 32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Sustainability Coalitions &amp; Endorsements  |  Key Initiatives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04672"/>
            <a:ext cx="3794760" cy="2423160"/>
          </a:xfrm>
          <a:prstGeom prst="rect">
            <a:avLst/>
          </a:prstGeom>
          <a:solidFill>
            <a:srgbClr val="D6EEF0"/>
          </a:solidFill>
          <a:ln w="1016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804672"/>
            <a:ext cx="3794760" cy="347472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SBTi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8412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11,000+ 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207008"/>
            <a:ext cx="3547872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1.5°C-aligned science-based GHG targets. Submit → SBTi validation → annual CDP reporting.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804672"/>
            <a:ext cx="3794760" cy="2423160"/>
          </a:xfrm>
          <a:prstGeom prst="rect">
            <a:avLst/>
          </a:prstGeom>
          <a:solidFill>
            <a:srgbClr val="D6EEF0"/>
          </a:solidFill>
          <a:ln w="101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804672"/>
            <a:ext cx="3794760" cy="34747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UN Global Compact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8412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20,000+ cos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207008"/>
            <a:ext cx="3547872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10 Principles (Human Rights, Labour, Environment, Anti-Corruption). CEO letter + annual COP.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804672"/>
            <a:ext cx="3794760" cy="2423160"/>
          </a:xfrm>
          <a:prstGeom prst="rect">
            <a:avLst/>
          </a:prstGeom>
          <a:solidFill>
            <a:srgbClr val="D6EEF0"/>
          </a:solidFill>
          <a:ln w="101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804672"/>
            <a:ext cx="379476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7" y="8412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59" y="84124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400+ 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1207008"/>
            <a:ext cx="3547872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Commit to 100% renewable electricity by target year. Apply at there100.org → annual CDP reporting.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456432"/>
            <a:ext cx="3794760" cy="2423160"/>
          </a:xfrm>
          <a:prstGeom prst="rect">
            <a:avLst/>
          </a:prstGeom>
          <a:solidFill>
            <a:srgbClr val="D6EEF0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456432"/>
            <a:ext cx="379476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" y="3493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RBA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4930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400+ members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858768"/>
            <a:ext cx="3547872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Electronics/ICT supply chain code. Sign CoC → SAQ → VAP audit if required. Labor, Ethics, OHS, Env.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3456432"/>
            <a:ext cx="3794760" cy="2423160"/>
          </a:xfrm>
          <a:prstGeom prst="rect">
            <a:avLst/>
          </a:prstGeom>
          <a:solidFill>
            <a:srgbClr val="D6EEF0"/>
          </a:solidFill>
          <a:ln w="1016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3456432"/>
            <a:ext cx="3794760" cy="34747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3493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SmartWay (EPA)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4930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3,500+ partners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858768"/>
            <a:ext cx="3547872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EPA freight emissions reduction. Annual fuel/miles/cargo data. Published member scorecard.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456432"/>
            <a:ext cx="3794760" cy="2423160"/>
          </a:xfrm>
          <a:prstGeom prst="rect">
            <a:avLst/>
          </a:prstGeom>
          <a:solidFill>
            <a:srgbClr val="D6EEF0"/>
          </a:solidFill>
          <a:ln w="1016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3456432"/>
            <a:ext cx="3794760" cy="347472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7" y="3493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Ellen MacArthur Fdn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52759" y="34930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500+ partners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3858768"/>
            <a:ext cx="3547872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1A"/>
                </a:solidFill>
                <a:latin typeface="Calibri"/>
              </a:rPr>
              <a:t>Circular economy commitment. Co-design principles. Apply as Global/Network partner.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" y="6419088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Calibri"/>
              </a:rPr>
              <a:t>Full detail tables → See Annexures D1 &amp; D2 (Slides 25 – 26)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18 / 32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SmartWay Transport Partnership  |  EPA — USA, Canada, Mexico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5303520" cy="5577840"/>
          </a:xfrm>
          <a:prstGeom prst="rect">
            <a:avLst/>
          </a:prstGeom>
          <a:solidFill>
            <a:srgbClr val="D6EEF0"/>
          </a:solidFill>
          <a:ln w="63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5303520" cy="34747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7955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SmartWay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8872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100"/>
                </a:solidFill>
                <a:latin typeface="Calibri"/>
              </a:rPr>
              <a:t>Governing Body: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18872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U.S. Environmental Protection Agency (EPA)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536192"/>
            <a:ext cx="512064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57276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100"/>
                </a:solidFill>
                <a:latin typeface="Calibri"/>
              </a:rPr>
              <a:t>Membership Scale: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57276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3,500+ Shipper/Carrier/Logistics Partners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20240"/>
            <a:ext cx="512064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95681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100"/>
                </a:solidFill>
                <a:latin typeface="Calibri"/>
              </a:rPr>
              <a:t>Key Members: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1956816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Walmart, UPS, FedEx, Target, Home Depot, Amazon, Schneider National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304288"/>
            <a:ext cx="512064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34086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100"/>
                </a:solidFill>
                <a:latin typeface="Calibri"/>
              </a:rPr>
              <a:t>Geography: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340864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USA, Canada, Mexico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88336"/>
            <a:ext cx="512064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7249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100"/>
                </a:solidFill>
                <a:latin typeface="Calibri"/>
              </a:rPr>
              <a:t>Sector Specific?: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2724912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No — all industries with freight transport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072384"/>
            <a:ext cx="512064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1089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100"/>
                </a:solidFill>
                <a:latin typeface="Calibri"/>
              </a:rPr>
              <a:t>Annual Requirement: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10896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Submit fuel use, miles travelled, cargo ton-miles 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456432"/>
            <a:ext cx="512064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49300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65100"/>
                </a:solidFill>
                <a:latin typeface="Calibri"/>
              </a:rPr>
              <a:t>Outcome: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493008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EPA-verified benchmarking; published membership &amp; SmartWay logo use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40480"/>
            <a:ext cx="5120640" cy="914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715000" y="777240"/>
            <a:ext cx="6245352" cy="557784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715000" y="777240"/>
            <a:ext cx="6245352" cy="347472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795528"/>
            <a:ext cx="6062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Criteria Coverage Matrix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1188720"/>
            <a:ext cx="6153912" cy="2011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1207008"/>
            <a:ext cx="5971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Environment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1417320"/>
            <a:ext cx="6153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GHG (CO₂, CH₄, N₂O) reduction in freight. NOx and PM emission benchmarking. Fuel efficiency improvements.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2011680"/>
            <a:ext cx="6153912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52160" y="2029968"/>
            <a:ext cx="5971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Labor &amp; Human Rights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6440" y="2240280"/>
            <a:ext cx="6153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Carrier working conditions referenced in Shipper guidance. Not primary focus but embedded in partner standards.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2834640"/>
            <a:ext cx="6153912" cy="20116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0" y="2852928"/>
            <a:ext cx="5971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Ethics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3063240"/>
            <a:ext cx="6153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Annual data accuracy requirement. EPA verification process. Public performance scoring and annual public report.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3657600"/>
            <a:ext cx="6153912" cy="201168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3675887"/>
            <a:ext cx="5971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Sustainable Procurement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3886200"/>
            <a:ext cx="6153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Shippers contractually require freight carriers to be SmartWay certified partners — supply chain lever.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0" y="64190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888888"/>
                </a:solidFill>
                <a:latin typeface="Calibri"/>
              </a:rPr>
              <a:t>Full coalition criteria matrix → See Annexure E (Slide 27)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19 / 32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240280"/>
            <a:ext cx="7616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EF0"/>
                </a:solidFill>
                <a:latin typeface="Calibri"/>
              </a:rPr>
              <a:t>This presentation covers both assignments completed during my Summer Internship at CSRWorks International.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017520"/>
            <a:ext cx="1371600" cy="5029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Assignment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EF0"/>
                </a:solidFill>
                <a:latin typeface="Calibri"/>
              </a:rPr>
              <a:t>10 Technical Issues  ·  10 Recommendations  ·  6 Problem-Solution Frameworks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749039"/>
            <a:ext cx="1371600" cy="5029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84047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Assignment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84047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EF0"/>
                </a:solidFill>
                <a:latin typeface="Calibri"/>
              </a:rPr>
              <a:t>19 Green Building Certs  ·  10 OHS Certs  ·  10 Cyber Certs  ·  11 Coalitions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4632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Tanishk Sati  |  Sustainability Intern  |  CSRWorks International  |  June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D6EEF0"/>
                </a:solidFill>
                <a:latin typeface="Calibri"/>
              </a:rPr>
              <a:t>Annexure with full data tables follows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Annexure Guide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576072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685800" cy="11887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" y="1097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83210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76C75"/>
                </a:solidFill>
                <a:latin typeface="Calibri"/>
              </a:rPr>
              <a:t>Slide 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069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OHS Certifications — Full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6245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ISO 45001, OHSAS, NEBOSH, OSHA VPP, ANSI Z10, CSA Z1000, SABS, JISHA, KOSHA, DOSH — 10 certifications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777240"/>
            <a:ext cx="576072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777240"/>
            <a:ext cx="685800" cy="11887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097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59" y="83210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76C75"/>
                </a:solidFill>
                <a:latin typeface="Calibri"/>
              </a:rPr>
              <a:t>Slide 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59" y="10698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Cybersecurity Certifications — Full Detail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136245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ISO 27001, SOC 2, FedRAMP, CMMC, NIST CSF, CSA STAR, Common Criteria, Cyber Essentials, ISMS-P — 10 certifications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103120"/>
            <a:ext cx="576072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2103120"/>
            <a:ext cx="685800" cy="11887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157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76C75"/>
                </a:solidFill>
                <a:latin typeface="Calibri"/>
              </a:rPr>
              <a:t>Slide 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395727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Green Building: Americas / Europe / ME / Africa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68833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LEED, WELL, LBC, BOMA 360, BREEAM, DGNB, HQE, MINERGIE, Estidama, Green Star SA — 10 certifications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103120"/>
            <a:ext cx="576072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103120"/>
            <a:ext cx="685800" cy="11887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215798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76C75"/>
                </a:solidFill>
                <a:latin typeface="Calibri"/>
              </a:rPr>
              <a:t>Slide 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2395727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Green Building: Asia-Pacific — Full Detail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268833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Green Mark, GBI, GRIHA, IGBC, EDGE, LOTUS, CASBEE, GBCS, China 3-Star — 9 certifications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429000"/>
            <a:ext cx="576072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429000"/>
            <a:ext cx="685800" cy="11887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" y="37490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348386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76C75"/>
                </a:solidFill>
                <a:latin typeface="Calibri"/>
              </a:rPr>
              <a:t>Slide 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37216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Coalitions: Climate, Energy &amp; Mobility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014215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SBTi, ACT, RE100, EP100, EV100, SmartWay — 6 initiatives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429000"/>
            <a:ext cx="576072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429000"/>
            <a:ext cx="685800" cy="11887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1072" y="37490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59" y="348386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76C75"/>
                </a:solidFill>
                <a:latin typeface="Calibri"/>
              </a:rPr>
              <a:t>Slide 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59" y="372160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Coalitions: ESG, Supply Chain, Finance &amp; Circular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59" y="4014215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UN Global Compact, WBCSD, RBA, Ellen MacArthur, Equator Principles — 5 initiatives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754879"/>
            <a:ext cx="576072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28600" y="4754879"/>
            <a:ext cx="685800" cy="11887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" y="50749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" y="480974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76C75"/>
                </a:solidFill>
                <a:latin typeface="Calibri"/>
              </a:rPr>
              <a:t>Slide 28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50474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Coalition Criteria Coverage Matrix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340095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Environment / Labor &amp; HR / Ethics / Sustainable Procurement mapping across major coalitions incl. SmartWay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4754879"/>
            <a:ext cx="5760720" cy="1188720"/>
          </a:xfrm>
          <a:prstGeom prst="rect">
            <a:avLst/>
          </a:prstGeom>
          <a:solidFill>
            <a:srgbClr val="F2F2F2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4754879"/>
            <a:ext cx="685800" cy="11887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1072" y="507491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95159" y="4809743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176C75"/>
                </a:solidFill>
                <a:latin typeface="Calibri"/>
              </a:rPr>
              <a:t>Slide 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95159" y="504748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  <a:latin typeface="Calibri"/>
              </a:rPr>
              <a:t>Other Certifications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59" y="5340095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  <a:latin typeface="Calibri"/>
              </a:rPr>
              <a:t>Forest (FSC/RSPO), ISO Environmental, Social (SA8000/B Corp/Fair Trade), Carbon (PAS 2060/VCS), Textiles (GOTS/OEKO-TEX)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21 / 32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ANNEXURE  |  Annexure A — OHS Certifications (Full 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731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Slide 22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918715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Certification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3892" y="658368"/>
            <a:ext cx="1918715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0468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Governing Org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9183" y="658368"/>
            <a:ext cx="1918715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5760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5" y="658368"/>
            <a:ext cx="1918715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1051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Eligibility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9767" y="658368"/>
            <a:ext cx="1918715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6343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05060" y="658368"/>
            <a:ext cx="1918715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41635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Example Companies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96012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" y="97840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ISO 45001:2018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83892" y="96012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20468" y="97840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ISO (Global)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9183" y="96012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5760" y="97840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Global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5" y="96012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1051" y="97840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Any org worldwide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9767" y="96012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6343" y="97840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Gap analysis → docs → internal audit → Stage 1+2 CB audit → 3-yr cert + surveillance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5060" y="96012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1635" y="97840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Unilever, Siemens, Toyota, Tata Steel, Samsung SDI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166878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" y="16870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OHSAS 18001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3892" y="166878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20468" y="16870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BSI/CBs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39183" y="166878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5760" y="16870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UK/Global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5" y="166878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1051" y="16870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Any org; migrating to ISO 45001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9767" y="166878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6343" y="16870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Risk assess → policy → internal audit → CB audit. Superseded by ISO 45001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05060" y="166878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1635" y="16870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BP, Shell, Ford, Honeywell, Hyundai Heavy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237744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" y="239572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NEBOSH IGC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83892" y="237744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20468" y="239572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NEBOSH, UK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39183" y="237744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75760" y="239572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UK (global)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4475" y="237744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1051" y="239572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Individual EHS professionals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9767" y="237744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86343" y="239572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Register → IG1+IG2 units → open-book exam → practical assessment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05060" y="237744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1635" y="239572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Aramco, Balfour Beatty, Jacobs, Mott MacDonald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308610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176" y="310438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OSHA VPP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83892" y="308610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20468" y="310438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OSHA, US DoL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39183" y="308610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75760" y="310438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USA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4475" y="308610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1051" y="310438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US worksites with strong OHS programs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9767" y="308610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86343" y="310438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to OSHA → site evaluation → Star/Merit/Developmental → annual re-eval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05060" y="308610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41635" y="310438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3M, DuPont, P&amp;G, ExxonMobil, Honeywell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379476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5176" y="381304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SABS OHSAS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83892" y="379476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20468" y="381304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SABS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39183" y="379476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75760" y="381304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South Africa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4475" y="379476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31051" y="381304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SA companies seeking OHS cert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49767" y="379476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86343" y="381304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to SABS or CB → gap analysis → audit → annual surveillance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05060" y="379476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41635" y="381304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Sasol, Anglo American, MTN, Eskom, Transnet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450342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5176" y="452170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JISHA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83892" y="450342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20468" y="452170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JISHA, Japan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39183" y="450342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75760" y="452170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Japan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94475" y="450342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31051" y="452170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Japanese companies or Japan operations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49767" y="450342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86343" y="452170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to JISHA → doc review → on-site audit → cert + surveillance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05060" y="450342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41635" y="452170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Toyota, Nippon Steel, Mitsubishi Chem, Kawasaki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521208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5176" y="52303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KOSHA OSHMS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83892" y="521208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20468" y="52303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KOSHA, Korea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39183" y="521208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75760" y="52303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South Korea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94475" y="521208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31051" y="52303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Korean companies or Korea operations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49767" y="521208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86343" y="52303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→ self-assess → doc review → on-site audit → 3-yr cert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05060" y="521208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041635" y="52303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POSCO, Hyundai Motor, Samsung Electronics, LG Chem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28600" y="592074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5176" y="593902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DOSH OSHMS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183892" y="592074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220468" y="593902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DOSH, Malaysia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39183" y="592074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75760" y="593902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Malaysia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94475" y="592074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31051" y="593902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Companies operating in Malaysia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049767" y="592074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86343" y="593902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Adopt MS 1722 → implement → internal audit → DOSH/CB audit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005060" y="592074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041635" y="593902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Petronas, Sime Darby, Tenaga Nasional, Top Glove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22 / 32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ANNEXURE  |  Annexure B — Cybersecurity Certifications (Full Detail)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731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Slide 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918715" cy="27432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Certification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3892" y="658368"/>
            <a:ext cx="1918715" cy="27432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0468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Governing Org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9183" y="658368"/>
            <a:ext cx="1918715" cy="27432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5760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5" y="658368"/>
            <a:ext cx="1918715" cy="27432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1051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Eligibility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9767" y="658368"/>
            <a:ext cx="1918715" cy="27432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6343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05060" y="658368"/>
            <a:ext cx="1918715" cy="27432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41635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Example Companies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96012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" y="97840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ISO/IEC 27001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83892" y="96012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20468" y="97840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ISO/IEC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9183" y="96012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5760" y="97840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Global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5" y="96012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1051" y="97840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Any org handling sensitive info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9767" y="96012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6343" y="97840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ISMS scope → risk assess → controls → internal audit → Stage 1+2 CB → 3-yr cert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5060" y="96012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1635" y="97840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Microsoft, Accenture, Infosys, HSBC, NTT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159004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" y="160832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SOC 2 Type I &amp; II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3892" y="159004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20468" y="160832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AICPA, USA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39183" y="159004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5760" y="160832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USA/Global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5" y="159004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1051" y="160832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SaaS, cloud service providers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9767" y="159004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6343" y="160832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Define Trust Service Criteria → readiness → CPA audit → Type I or II report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05060" y="159004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1635" y="160832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Salesforce, Dropbox, AWS, Zoom, HubSpot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221996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" y="223824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FedRAMP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83892" y="221996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20468" y="223824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GSA/NIST, USA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39183" y="221996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75760" y="223824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USA (federal)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4475" y="221996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1051" y="223824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Cloud providers serving US federal govt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9767" y="221996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86343" y="223824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CSP initiates with Agency → 3PAO assessment → ATO/JAB P-ATO → continuous monitoring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05060" y="221996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1635" y="223824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AWS GovCloud, MS Azure Govt, Google Cloud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2849879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176" y="28681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CMMC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83892" y="2849879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20468" y="28681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US DoD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39183" y="2849879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75760" y="28681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USA (defense)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4475" y="2849879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1051" y="28681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DoD contractors handling CUI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9767" y="2849879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86343" y="28681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Self-assess (L1) or C3PAO assessment (L2+) → annual affirmation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05060" y="2849879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41635" y="28681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Lockheed, Raytheon, General Dynamics, BAE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347980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5176" y="349808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NIST CSF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83892" y="347980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20468" y="349808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NIST, USA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39183" y="347980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75760" y="349808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USA/International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4475" y="347980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31051" y="349808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All industries (voluntary framework)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49767" y="347980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86343" y="349808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Adopt 5 core functions → self-assess or 3rd-party → tiered maturity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05060" y="347980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41635" y="349808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US federal agencies, major banks, energy utilities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410972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5176" y="412800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CSA STAR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83892" y="410972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20468" y="412800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CSA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39183" y="410972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75760" y="412800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Global (cloud)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94475" y="410972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31051" y="412800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Cloud service providers &amp; users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49767" y="410972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86343" y="412800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Level 1: CAIQ self-assessment; Level 2: ISO 27001 + cloud controls; Level 3: continuous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05060" y="410972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41635" y="412800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Google Cloud, AWS, Azure, Alibaba, IBM Cloud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4739639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5176" y="475792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Common Criteria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83892" y="4739639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20468" y="475792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CCRA (ISO 15408)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39183" y="4739639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75760" y="475792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29 CCRA countries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94475" y="4739639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31051" y="475792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IT security product manufacturers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49767" y="4739639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86343" y="475792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Security Target → CCTL lab testing → national validation → EAL1–EAL7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05060" y="4739639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041635" y="475792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Microsoft, Cisco, Juniper, Samsung, Thales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28600" y="536956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5176" y="538784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Cyber Essentials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183892" y="536956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220468" y="538784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NCSC, UK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39183" y="536956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75760" y="538784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UK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94475" y="536956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31051" y="538784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UK orgs; mandatory for govt contracts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049767" y="536956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86343" y="538784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Self-assessment → NCSC-approved CB → vuln scan (Plus) → annual cert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005060" y="536956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041635" y="538784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BT Group, Rolls-Royce, BAE Systems, QinetiQ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28600" y="599948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65176" y="60177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ISMS-P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83892" y="599948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220468" y="60177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KISA, Korea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139183" y="599948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75760" y="60177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South Korea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94475" y="599948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31051" y="60177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Large Korean ICT companies (mandatory)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49767" y="599948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86343" y="60177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to KISA → doc review → on-site audit → 3-yr cert + surveillance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005060" y="599948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041635" y="60177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Kakao, Naver, Samsung SDS, SK Telecom, Lotte IT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23 / 32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ANNEXURE  |  Annexure C1 — Green Building: Americas, Europe, Middle East &amp;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731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Slide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918715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Certification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3892" y="658368"/>
            <a:ext cx="1918715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0468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Org / Region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9183" y="658368"/>
            <a:ext cx="1918715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5760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Eligibility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5" y="658368"/>
            <a:ext cx="1918715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1051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Rating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9767" y="658368"/>
            <a:ext cx="1918715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6343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05060" y="658368"/>
            <a:ext cx="1918715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41635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Example Companies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960120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" y="978408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LEED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83892" y="960120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20468" y="978408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USGBC — USA/Global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9183" y="960120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5760" y="978408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New/existing buildings; 185+ countries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5" y="960120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1051" y="978408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Certified/Silver/Gold/Platinum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9767" y="960120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6343" y="978408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Register → doc compliance → GBCI review → 5-yr recert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5060" y="960120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1635" y="978408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Apple Park, Goldman Sachs HQ, Infosys (IN)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1527048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" y="1545336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WELL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3892" y="1527048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20468" y="1545336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IWBI — Global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39183" y="1527048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5760" y="1545336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Building owners, developers, employers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5" y="1527048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1051" y="1545336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WELL Certified (Silver/Gold/Platinum)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9767" y="1527048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6343" y="1545336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Register with IWBI → design + operational docs → GBCI testing → 3-yr recert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05060" y="1527048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1635" y="1545336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Amazon HQ2, JPMorgan Chase, Nike WHQ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2093976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" y="2112264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Living Building Challenge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83892" y="2093976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20468" y="2112264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ILFI — Global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39183" y="2093976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75760" y="2112264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Buildings committed to net-zero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4475" y="2093976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1051" y="2112264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Petal or Full Certification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9767" y="2093976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86343" y="2112264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Register → 12-month post-occupancy → 20 Imperatives → 3rd-party audit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05060" y="2093976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1635" y="2112264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Bullitt Center (Seattle), Eden Project (UK)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2660904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176" y="2679192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BOMA 360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83892" y="2660904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20468" y="2679192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BOMA Intl — USA/Canada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39183" y="2660904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75760" y="2679192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Existing commercial buildings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4475" y="2660904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1051" y="2679192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3-year Designation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9767" y="2660904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86343" y="2679192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→ submit operations/emergency/sustainability docs → BOMA evaluation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05060" y="2660904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41635" y="2679192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Empire State Bldg, Brookfield, JLL portfolios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3227832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5176" y="3246120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BREEAM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83892" y="3227832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20468" y="3246120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BRE — UK/Europe/Global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39183" y="3227832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75760" y="3246120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New/existing buildings, communities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4475" y="3227832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31051" y="3246120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Pass/Good/Very Good/Excellent/Outstanding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49767" y="3227832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86343" y="3246120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Register → licensed BREEAM assessor → design-stage + post-const assessment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05060" y="3227832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41635" y="3246120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Unilever HQ, Canary Wharf, HSBC Dubai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3794760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5176" y="3813048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DGNB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83892" y="3794760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20468" y="3813048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DGNB — Germany/Europe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39183" y="3794760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75760" y="3813048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Buildings and districts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94475" y="3794760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31051" y="3813048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Bronze/Silver/Gold/Platinum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49767" y="3794760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86343" y="3813048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Engage auditor → 6-theme assessment → Precertificate then Certificate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05060" y="3794760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41635" y="3813048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VW AutoCity, Deutsche Telekom HQ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4361688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5176" y="4379975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HQE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83892" y="4361688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20468" y="4379975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Certivéa — France/Francophone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39183" y="4361688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75760" y="4379975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Buildings in France and Francophone markets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94475" y="4361688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31051" y="4379975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Pass/Good/Very Good/Exceptional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49767" y="4361688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86343" y="4379975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to Certivéa → 14 HQE targets across 4 themes → assessment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05060" y="4361688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041635" y="4379975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La Défense offices (Paris), Lyon Confluence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28600" y="4928616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5176" y="4946903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MINERGIE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183892" y="4928616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220468" y="4946903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MINERGIE Assn — Switzerland/DACH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39183" y="4928616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75760" y="4946903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Buildings in Switzerland/DACH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94475" y="4928616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31051" y="4946903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MINERGIE/P (Passive)/A (Net-Zero)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049767" y="4928616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86343" y="4946903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→ energy performance calc → 3rd-party audit → periodic re-audit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005060" y="4928616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041635" y="4946903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Swiss parliament, ETH Zurich, SBB stations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28600" y="5495544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65176" y="5513831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Estidama Pearl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83892" y="5495544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220468" y="5513831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UPC — UAE/Middle East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139183" y="5495544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75760" y="5513831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Developers in Abu Dhabi (mandatory ≥1 Pearl)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94475" y="5495544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31051" y="5513831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1–5 Pearl Rating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49767" y="5495544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86343" y="5513831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to UPC → PDR → PCR → 1–5 Pearl rating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005060" y="5495544"/>
            <a:ext cx="1918715" cy="530352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041635" y="5513831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Masdar City, Cleveland Clinic Abu Dhabi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28600" y="6062472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65176" y="6080759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Green Star SA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183892" y="6062472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220468" y="6080759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GBCSA — South Africa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139183" y="6062472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175760" y="6080759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Buildings in SA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094475" y="6062472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131051" y="6080759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4, 5 or 6 Star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049767" y="6062472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086343" y="6080759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Register with GBCSA → Green Star AP → design + post-const → rating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005060" y="6062472"/>
            <a:ext cx="1918715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041635" y="6080759"/>
            <a:ext cx="186385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Growthpoint, Redefine, Nedbank HQ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24 / 32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ANNEXURE  |  Annexure C2 — Green Building: South/SE Asia &amp; East Asia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731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Slide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918715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Certification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3892" y="658368"/>
            <a:ext cx="1918715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0468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Org / Region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9183" y="658368"/>
            <a:ext cx="1918715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5760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Eligibility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5" y="658368"/>
            <a:ext cx="1918715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1051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Rating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9767" y="658368"/>
            <a:ext cx="1918715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6343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05060" y="658368"/>
            <a:ext cx="1918715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41635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Example Companies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96012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" y="97840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Green Mark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83892" y="96012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20468" y="97840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BCA — Singapore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9183" y="96012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5760" y="97840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Buildings in Singapore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5" y="96012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1051" y="97840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Certified/GoldPLUS/Platinum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9767" y="96012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6343" y="97840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Register → design vs Green Mark criteria → on-site inspection → 3-yr recert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5060" y="96012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1635" y="97840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CapitaLand, Keppel, CDL, Sunway (MY)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159004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" y="160832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GBI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3892" y="159004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20468" y="160832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GBI Panel — Malaysia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39183" y="159004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5760" y="160832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Buildings in Malaysia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5" y="159004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1051" y="160832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Certified/Silver/Gold/Platinum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9767" y="159004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6343" y="160832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Engage GBI facilitator → design docs → provisional rating → post-const assessment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05060" y="159004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1635" y="160832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IOI Properties, Gamuda, Sime Darby, YTL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221996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" y="223824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GRIHA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83892" y="221996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20468" y="223824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TERI/MNRE — India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39183" y="221996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75760" y="223824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Buildings in India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4475" y="221996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1051" y="223824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1–5 Star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9767" y="221996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86343" y="223824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Register → 3rd-party evaluator → 24 criteria → provisional then final award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05060" y="221996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1635" y="223824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TERI Retreat, MNRE HQ, IIT Delhi, NTPC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2849879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176" y="28681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IGBC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83892" y="2849879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20468" y="28681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IGBC/CII — India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39183" y="2849879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75760" y="28681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Buildings in India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4475" y="2849879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1051" y="28681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Certified/Silver/Gold/Platinum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9767" y="2849879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86343" y="28681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Register on IGBC portal → design docs → IGBC assessment → on-site verification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05060" y="2849879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41635" y="28681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Infosys, Wipro, HCL, DLF, Prestige Group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347980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5176" y="349808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EDGE (IFC)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83892" y="347980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20468" y="349808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IFC — Global emerging markets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39183" y="347980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75760" y="349808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Developers in emerging market countries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4475" y="347980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31051" y="349808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Certified/Advanced/Zero Carbon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49767" y="347980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86343" y="349808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Register on EDGE App → model 20% savings in energy/water/embodied → EDGE auditor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05060" y="347980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41635" y="3498088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Godrej (IN), BRAC (BD), Aboitiz (PH)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410972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5176" y="412800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LOTUS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83892" y="410972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20468" y="412800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VGBC — Vietnam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39183" y="410972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75760" y="412800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Buildings in Vietnam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94475" y="410972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31051" y="412800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Certified/Silver/Gold/Platinum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49767" y="410972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86343" y="412800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Register with VGBC → LOTUS accredited professional → assessment → rating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05060" y="410972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41635" y="412800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CapitaLand VN, Vingroup, Gamuda Land VN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4739639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5176" y="475792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CASBEE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83892" y="4739639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20468" y="475792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IBEC — Japan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39183" y="4739639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75760" y="475792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Buildings in Japan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94475" y="4739639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31051" y="475792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Class C/B-/B+/A/S (BEE score)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49767" y="4739639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86343" y="475792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Engage CASBEE evaluator → Q and L evaluated → BEE score → submit to local govt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05060" y="4739639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041635" y="475792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Mori Building, Tokyu Corp, Sumitomo Realty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28600" y="536956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5176" y="538784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GBCS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183892" y="536956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220468" y="538784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MOLIT — South Korea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39183" y="536956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75760" y="538784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Buildings in South Korea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94475" y="536956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31051" y="538784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Certified/Good/Excellent/Best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049767" y="536956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86343" y="538784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to authorized CB → doc review (5 categories) → on-site inspection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005060" y="5369560"/>
            <a:ext cx="1918715" cy="593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041635" y="538784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Samsung C&amp;T, Lotte E&amp;C, Hyundai E&amp;C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28600" y="599948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65176" y="60177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China 3-Star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183892" y="599948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220468" y="60177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MOHURD — China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139183" y="599948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175760" y="60177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Buildings in China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094475" y="599948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31051" y="60177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1-Star/2-Star/3-Star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049767" y="599948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086343" y="60177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to provincial agency → assessment vs GB/T 50378 → site inspection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005060" y="5999480"/>
            <a:ext cx="1918715" cy="59334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10041635" y="6017767"/>
            <a:ext cx="1863851" cy="57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CR Land, Vanke, Country Garden, CSCEC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ANNEXURE  |  Annexure D1 — Coalitions: Climate, Energy &amp; Mobility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731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Slide 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91871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Coalition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3892" y="658368"/>
            <a:ext cx="191871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0468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Founded By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9183" y="658368"/>
            <a:ext cx="191871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5760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Key Supporters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5" y="658368"/>
            <a:ext cx="191871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1051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Countries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9767" y="658368"/>
            <a:ext cx="191871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6343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Sector?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05060" y="658368"/>
            <a:ext cx="191871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41635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How to Join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960120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" y="97840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SBTi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83892" y="960120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20468" y="97840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CDP, UNGC, WRI, WWF (2015)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9183" y="960120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5760" y="97840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11,000+ cos: Microsoft, Amazon, Unilever, Walmart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5" y="960120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1051" y="97840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70+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9767" y="960120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6343" y="97840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No – all sectors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5060" y="960120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1635" y="97840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Commitment letter → develop 1.5°C targets → SBTi validation → annual reporting. Revenue-based fee.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1673352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" y="1691640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3892" y="1673352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20468" y="1691640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CDP, ADEME &amp; WBA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39183" y="1673352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5760" y="1691640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EDF, Renault, Michelin; co-funded EU LIFE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5" y="1673352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1051" y="1691640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France → EU/Global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9767" y="1673352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6343" y="1691640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No – all (sector methodologies)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05060" y="1673352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1635" y="1691640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Visit act-initiative.org → engage ACT assessor → company data → evaluation → 0–5 stars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2386584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" y="2404872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RE100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83892" y="2386584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20468" y="2404872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Climate Group &amp; CDP (2014)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39183" y="2386584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75760" y="2404872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Apple, Google, Microsoft, IKEA, BMW, Nike – 400+ cos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4475" y="2386584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1051" y="2404872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50+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9767" y="2386584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86343" y="2404872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No – all with electricity use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05060" y="2386584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1635" y="2404872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at there100.org → confirm eligibility → commit to 100% renewables → annual CDP reporting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3099815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176" y="3118103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EP100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83892" y="3099815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20468" y="3118103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Climate Group &amp; ASE (2016)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39183" y="3099815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75760" y="3118103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Signify, Schneider, Tata, Mahindra, JLL – 130+ cos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4475" y="3099815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1051" y="3118103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35+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9767" y="3099815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86343" y="3118103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No – all with energy use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05060" y="3099815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41635" y="3118103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→ confirm eligibility → commit to double energy productivity by 2030 → annual CDP reporting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3813048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5176" y="3831335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EV100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83892" y="3813048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20468" y="3831335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The Climate Group (2017)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39183" y="3813048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75760" y="3831335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LeasePlan, IKEA, Heathrow, Unilever, Uber, BT – 130+ cos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4475" y="3813048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31051" y="3831335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40+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49767" y="3813048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86343" y="3831335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No – any org with vehicle fleets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05060" y="3813048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41635" y="3831335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→ commit to fleet EV transition by 2030 → annual CDP reporting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4526280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5176" y="454456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SmartWay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83892" y="4526280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20468" y="454456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US EPA (est. 2004)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39183" y="4526280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75760" y="454456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3,500+ partners: Walmart, UPS, FedEx, Target, Home Depot, Amazon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94475" y="4526280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31051" y="454456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USA/CAN/MEX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49767" y="4526280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86343" y="454456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No – all freight industries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05060" y="4526280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41635" y="454456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at epa.gov/smartway → sign Partnership Agreement → submit annual data → EPA verifies → published scorecard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26 / 32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ANNEXURE  |  Annexure D2 — Coalitions: ESG, Supply Chain, Finance &amp; Circular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731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Slide 27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91871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Coalition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3892" y="658368"/>
            <a:ext cx="191871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0468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Founded By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9183" y="658368"/>
            <a:ext cx="191871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5760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Key Supporters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5" y="658368"/>
            <a:ext cx="191871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1051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Countries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9767" y="658368"/>
            <a:ext cx="191871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6343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Sector?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05060" y="658368"/>
            <a:ext cx="1918715" cy="2743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41635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How to Join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960120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" y="97840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UN Global Compact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83892" y="960120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20468" y="97840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United Nations (2000)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9183" y="960120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5760" y="97840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20,000+ cos: Accenture, Nestlé, Unilever, L'Oréal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5" y="960120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1051" y="97840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160+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9767" y="960120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6343" y="97840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No – all sectors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5060" y="960120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1635" y="978408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CEO Letter of Commitment to UN SG → first COP within 2 yrs → annual 10 Principles reporting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1673352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" y="1691640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WBCSD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3892" y="1673352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20468" y="1691640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Stephan Schmidheiny + 50 leaders (1995)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39183" y="1673352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5760" y="1691640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200+ cos: Unilever, Nestlé, BASF, Microsoft, Allianz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5" y="1673352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1051" y="1691640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35+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9767" y="1673352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6343" y="1691640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No – large multinationals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05060" y="1673352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1635" y="1691640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at wbcsd.org → submit application → board review → sign WBCSD charter → annual membership fee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2386584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" y="2404872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RBA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83892" y="2386584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20468" y="2404872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Cisco, HP, IBM, Intel, Seagate (2004, as EICC)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39183" y="2386584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75760" y="2404872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Apple, Samsung, Dell, Microsoft, Toyota, BMW – 400+ members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4475" y="2386584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1051" y="2404872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100+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9767" y="2386584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86343" y="2404872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Yes – Electronics/ICT, auto, retail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05060" y="2386584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1635" y="2404872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at responsiblebusiness.org → sign CoC → SAQ → VAP audit if required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3099815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176" y="3118103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Ellen MacArthur Fdn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83892" y="3099815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20468" y="3118103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Dame Ellen MacArthur (UK, 2010)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39183" y="3099815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75760" y="3118103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Google, Apple, Renault, Unilever, H&amp;M, Nike, IKEA – 500+ partners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4475" y="3099815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1051" y="3118103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50+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9767" y="3099815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86343" y="3118103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No – mfg, consumer goods, fashion, food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05060" y="3099815"/>
            <a:ext cx="1918715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41635" y="3118103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Visit ellenmacarthurfoundation.org → apply as Global/Network/Govt partner → align to circular principles → annual fee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3813048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5176" y="3831335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Equator Principles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83892" y="3813048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20468" y="3831335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ABN AMRO, Barclays, Citi + 7 banks (2003)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39183" y="3813048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75760" y="3831335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120+ FIs: IFC, MUFG, Standard Chartered, BBVA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4475" y="3813048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31051" y="3831335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37+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49767" y="3813048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86343" y="3831335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Yes – FIs financing large projects ($10M+)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05060" y="3813048"/>
            <a:ext cx="1918715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41635" y="3831335"/>
            <a:ext cx="1863851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Review EP4 → board commitment → integrate into credit risk → approved by EP Steering Committee → annual reporting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27 / 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ANNEXURE  |  Annexure E — Coalition Criteria Coverage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731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Slide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639388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" y="667512"/>
            <a:ext cx="15845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Coalition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4564" y="658368"/>
            <a:ext cx="1639388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41140" y="667512"/>
            <a:ext cx="15845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Environment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80529" y="658368"/>
            <a:ext cx="1639388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7105" y="667512"/>
            <a:ext cx="15845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Labor &amp; Human Rights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6493" y="658368"/>
            <a:ext cx="1639388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93069" y="667512"/>
            <a:ext cx="15845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Ethics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32458" y="658368"/>
            <a:ext cx="1639388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9034" y="667512"/>
            <a:ext cx="15845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Sustainable Procurement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08422" y="658368"/>
            <a:ext cx="1639388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4998" y="667512"/>
            <a:ext cx="15845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Membership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84387" y="658368"/>
            <a:ext cx="1639388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20963" y="667512"/>
            <a:ext cx="15845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Published?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960120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5176" y="978408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SmartWay (EPA)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04564" y="960120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41140" y="978408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GHG &amp; NOx reduction; fuel efficiency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80529" y="960120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7105" y="978408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Carrier working conditions referenced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6493" y="960120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93069" y="978408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Annual data accuracy; EPA verification; public scoring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32458" y="960120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9034" y="978408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Shippers require carriers to be SmartWay partners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08422" y="960120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4998" y="978408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Partner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284387" y="960120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20963" y="978408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EPA website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1673352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" y="1691640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UN Global Compact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04564" y="1673352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41140" y="1691640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Prin.7–9: precautionary, env responsibility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80529" y="1673352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17105" y="1691640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Prin.3–6: freedom of assoc., no forced/child labour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56493" y="1673352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93069" y="1691640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Prin.10: anti-corruption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32458" y="1673352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69034" y="1691640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Sustainable procurement in COP reporting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08422" y="1673352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44998" y="1691640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Signatory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284387" y="1673352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320963" y="1691640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UNGC website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" y="2386584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5176" y="2404872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SBTi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04564" y="2386584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41140" y="2404872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Science-based emissions targets (1.5°C)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80529" y="2386584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17105" y="2404872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— (not a labour standard)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56493" y="2386584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93069" y="2404872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Transparent target validation &amp; annual reporting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932458" y="2386584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69034" y="2404872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Scope 3 supplier targets for full value chain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08422" y="2386584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4998" y="2404872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Committed/Approved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284387" y="2386584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20963" y="2404872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SBTi website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3099815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65176" y="3118103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RBA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04564" y="3099815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41140" y="3118103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Environmental management code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80529" y="3099815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17105" y="3118103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Labour: working hours, wages, no forced/child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56493" y="3099815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93069" y="3118103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Business Ethics code (anti-corruption, privacy)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32458" y="3099815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969034" y="3118103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CoC applies to supply chain; SAQ + VAP audit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608422" y="3099815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644998" y="3118103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Member/Participant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84387" y="3099815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320963" y="3118103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RBA website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28600" y="3813048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5176" y="3831335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Equator Principles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04564" y="3813048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41140" y="3831335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Environmental impact assessment required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80529" y="3813048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617105" y="3831335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Labour standards per IFC Performance Standards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256493" y="3813048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93069" y="3831335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Stakeholder engagement; grievance mechanisms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32458" y="3813048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969034" y="3831335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Environmental &amp; social due diligence required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608422" y="3813048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644998" y="3831335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Signatory (EPFI)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284387" y="3813048"/>
            <a:ext cx="1639388" cy="676656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320963" y="3831335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EP website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4526280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5176" y="4544568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Ellen MacArthur Fdn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904564" y="4526280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941140" y="4544568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Circular economy; eliminate waste; regenerate nature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580529" y="4526280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17105" y="4544568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— (systems focus, not direct labour standard)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256493" y="4526280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293069" y="4544568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Transparent progress reporting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32458" y="4526280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969034" y="4544568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Circular procurement principles promoted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608422" y="4526280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644998" y="4544568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Global/Network Partner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10284387" y="4526280"/>
            <a:ext cx="1639388" cy="6766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320963" y="4544568"/>
            <a:ext cx="158452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✔ EMF website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28 / 32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ANNEXURE  |  Annexure F — Other Certifications (Forest, Environmental, Social, Carbon, Textiles)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73152"/>
            <a:ext cx="2651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Slide 29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658368"/>
            <a:ext cx="1918715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Certification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3892" y="658368"/>
            <a:ext cx="1918715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0468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Governing Org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9183" y="658368"/>
            <a:ext cx="1918715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5760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Region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4475" y="658368"/>
            <a:ext cx="1918715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1051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Industry?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9767" y="658368"/>
            <a:ext cx="1918715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6343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05060" y="658368"/>
            <a:ext cx="1918715" cy="27432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41635" y="667512"/>
            <a:ext cx="1863851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Example Companies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96012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" y="97840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FSC — Forest Mgmt &amp; CoC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83892" y="96012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20468" y="97840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Forest Stewardship Council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9183" y="96012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75760" y="97840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Global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4475" y="96012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31051" y="97840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Forestry, timber, paper, packaging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9767" y="96012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6343" y="97840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Contact FSC CB → pre-assessment → audit vs FSC-STD → 5-yr cert + annual surveillance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5060" y="96012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41635" y="97840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IKEA, Kimberly-Clark, Tetra Pak, Mondi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166878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" y="16870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RSPO — Palm Oil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83892" y="166878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20468" y="16870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RSPO, Kuala Lumpur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39183" y="166878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75760" y="16870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Global (IN, MY focus)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4475" y="166878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31051" y="16870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Palm oil production &amp; supply chain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9767" y="166878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86343" y="16870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Join RSPO → adopt P&amp;C → audit by CB → 5-yr cert + annual surveillance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05060" y="166878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1635" y="16870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Sime Darby, IOI Corp, Wilmar, Nestlé, Unilever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237744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" y="239572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ISO 14001:2015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83892" y="237744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20468" y="239572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ISO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39183" y="237744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75760" y="239572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Global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94475" y="237744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31051" y="239572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All industries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9767" y="237744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86343" y="239572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Env. review → EMS policy → implementation → internal audit → CB audit → 3-yr cert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05060" y="237744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41635" y="239572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Apple, BMW, Samsung, Toyota, Tata, Infosys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8600" y="308610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5176" y="310438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SA8000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83892" y="308610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20468" y="310438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SAI, NY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39183" y="308610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75760" y="310438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Global (mfg, textiles, food)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94475" y="308610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31051" y="310438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All (common: mfg, textiles)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9767" y="308610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86343" y="310438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Gap assess → corrective actions → SAAS-accredited CB audit → 3-yr cert + semi-annual surveillance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05060" y="308610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41635" y="310438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M&amp;S, H&amp;M, Bosch, Adidas (BD suppliers), Gap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28600" y="379476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5176" y="381304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 Corp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183892" y="379476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20468" y="381304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 Lab (global)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39183" y="379476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75760" y="381304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Global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94475" y="379476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31051" y="381304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All sectors (score ≥80/200 on BIA)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49767" y="379476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86343" y="381304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Complete BIA → score ≥80 → documentation verify → legal requirement → 3-yr recert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05060" y="379476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041635" y="381304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Patagonia, Ben &amp; Jerry's, Danone NA, Natura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28600" y="450342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65176" y="452170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PAS 2060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183892" y="450342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20468" y="452170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BSI Group, UK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39183" y="450342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75760" y="452170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UK/Global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94475" y="450342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131051" y="452170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All (carbon neutrality declaration)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049767" y="450342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86343" y="452170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Define scope → measure GHG → reduction plan → offset with verified credits → 3rd-party verify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05060" y="450342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041635" y="452170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Fujitsu, Hitachi, Kia Motors, Cathay Pacific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8600" y="521208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65176" y="52303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GOTS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183892" y="521208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20468" y="52303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GOTS, Germany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39183" y="521208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175760" y="52303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Global (textiles)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94475" y="521208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131051" y="52303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Textile processing &amp; mfg of organic fibers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049767" y="521208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086343" y="52303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to GOTS-approved CB → doc review + facility inspection → annual cert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05060" y="5212080"/>
            <a:ext cx="1918715" cy="672084"/>
          </a:xfrm>
          <a:prstGeom prst="rect">
            <a:avLst/>
          </a:prstGeom>
          <a:solidFill>
            <a:srgbClr val="D6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041635" y="5230368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Patagonia, H&amp;M (select lines), Arvind (IN)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28600" y="592074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5176" y="593902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OEKO-TEX 100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183892" y="592074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220468" y="593902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OEKO-TEX Assn, Zurich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139183" y="592074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175760" y="593902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Global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94475" y="592074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131051" y="593902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Textiles at all production stages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049767" y="592074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086343" y="593902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Apply to OEKO-TEX institute → product testing in accredited lab → annual cert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005060" y="5920740"/>
            <a:ext cx="1918715" cy="6720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041635" y="5939027"/>
            <a:ext cx="1863851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A1A1A"/>
                </a:solidFill>
                <a:latin typeface="Calibri"/>
              </a:rPr>
              <a:t>H&amp;M, Zara (Inditex), IKEA, Decathlon, Li-Ning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29 / 32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Additional Coalitions  |  Labor, Supply Chain &amp;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574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6C75"/>
                </a:solidFill>
                <a:latin typeface="Calibri"/>
              </a:rPr>
              <a:t>Coalitions referenced in SmartWay criteria coverage — Labor &amp; Human Rights 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5760720" cy="233172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188720"/>
            <a:ext cx="5760720" cy="32004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2252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Better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2252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D6EEF0"/>
                </a:solidFill>
                <a:latin typeface="Calibri"/>
              </a:rPr>
              <a:t>ILO &amp; IFC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554480"/>
            <a:ext cx="5522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Joint ILO-IFC programme improving labour standards and competitiveness in global garment supply chains.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2103120"/>
            <a:ext cx="5522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44444"/>
                </a:solidFill>
                <a:latin typeface="Calibri"/>
              </a:rPr>
              <a:t>Geography: Cambodia, Bangladesh, Ethiopia, Haiti, Indonesia, Jordan, Lesotho, Myanmar, Nicaragua, Vietnam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" y="2423160"/>
            <a:ext cx="5522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Process: Factory assessment + advisory services → national programme certification.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760720" cy="233172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760720" cy="32004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2252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amfori BSCI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122529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D6EEF0"/>
                </a:solidFill>
                <a:latin typeface="Calibri"/>
              </a:rPr>
              <a:t>amfori (formerly FTA)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554480"/>
            <a:ext cx="5522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Business Social Compliance Initiative. Code of conduct covering labour rights across global supply chains.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103120"/>
            <a:ext cx="5522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44444"/>
                </a:solidFill>
                <a:latin typeface="Calibri"/>
              </a:rPr>
              <a:t>Geography: Global (80+ member countries)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423160"/>
            <a:ext cx="5522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Process: Member companies → supplier audits via amfori-accredited monitoring companies → online platform.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657600"/>
            <a:ext cx="5760720" cy="233172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657600"/>
            <a:ext cx="5760720" cy="32004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6941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Fairtrade International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6941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D6EEF0"/>
                </a:solidFill>
                <a:latin typeface="Calibri"/>
              </a:rPr>
              <a:t>FLO, Germany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" y="4023360"/>
            <a:ext cx="5522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Fair trade certification ensuring minimum prices, premiums, and social standards for smallholder farmers.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4572000"/>
            <a:ext cx="5522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44444"/>
                </a:solidFill>
                <a:latin typeface="Calibri"/>
              </a:rPr>
              <a:t>Geography: Global (producers in 75+ countries)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" y="4892040"/>
            <a:ext cx="5522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Process: Producer organization applies → FLO-CERT audit → Fairtrade certification → annual surveillance.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3657600"/>
            <a:ext cx="5760720" cy="233172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3657600"/>
            <a:ext cx="5760720" cy="32004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36941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WBCSD Vision 2050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69417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1">
                <a:solidFill>
                  <a:srgbClr val="D6EEF0"/>
                </a:solidFill>
                <a:latin typeface="Calibri"/>
              </a:rPr>
              <a:t>WBCSD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4023360"/>
            <a:ext cx="5522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Calibri"/>
              </a:rPr>
              <a:t>Business leadership framework for a world in which more than 10 billion people live and thrive within planetary boundaries.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7648" y="4572000"/>
            <a:ext cx="55229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44444"/>
                </a:solidFill>
                <a:latin typeface="Calibri"/>
              </a:rPr>
              <a:t>Geography: Global (200+ member companies in 35+ countries)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4892040"/>
            <a:ext cx="552297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Process: Join WBCSD → align business strategy with Vision 2050 pathways → annual progress contribution.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30 / 32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Additional Certifications  |  Energy Management &amp; Carbon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6519672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Tanishk Sati  |  CSRWorks International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777240"/>
            <a:ext cx="11731752" cy="1691640"/>
          </a:xfrm>
          <a:prstGeom prst="rect">
            <a:avLst/>
          </a:prstGeom>
          <a:solidFill>
            <a:srgbClr val="D6EEF0"/>
          </a:solidFill>
          <a:ln w="6350">
            <a:solidFill>
              <a:srgbClr val="176C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777240"/>
            <a:ext cx="11731752" cy="320040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813816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ISO 50001:2018  —  Energy Management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4300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76C75"/>
                </a:solidFill>
                <a:latin typeface="Calibri"/>
              </a:rPr>
              <a:t>Governing Org: ISO  |  Region: Global  |  Industry: All organizations with significant energy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37160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Process: Energy baseline → EnMS → targets → action plans → internal audit → Stage 1+2 CB audit → 3-yr cert + annual surveillance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0136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44444"/>
                </a:solidFill>
                <a:latin typeface="Calibri"/>
              </a:rPr>
              <a:t>Examples: Volkswagen, Schneider Electric, POSCO, Tata Steel, CLP Group (HK)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606040"/>
            <a:ext cx="11731752" cy="1691640"/>
          </a:xfrm>
          <a:prstGeom prst="rect">
            <a:avLst/>
          </a:prstGeom>
          <a:solidFill>
            <a:srgbClr val="D6EEF0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" y="2606040"/>
            <a:ext cx="11731752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642616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VCS / Verra  —  Verified Carbon 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97180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76C75"/>
                </a:solidFill>
                <a:latin typeface="Calibri"/>
              </a:rPr>
              <a:t>Governing Org: Verra, Washington DC  |  Region: Global (IN, CN, SE Asia focus)  |  Industry: GHG reduction/removal project developers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20040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Process: Submit project description → Validation by VVB → Verra review → Monitoring → VCU issuance → Retire VCUs for offset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63016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44444"/>
                </a:solidFill>
                <a:latin typeface="Calibri"/>
              </a:rPr>
              <a:t>Examples: Microsoft, Delta Air Lines, Shell, Mitsubishi Corp (as buyers/project sponsors)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434840"/>
            <a:ext cx="11731752" cy="1691640"/>
          </a:xfrm>
          <a:prstGeom prst="rect">
            <a:avLst/>
          </a:prstGeom>
          <a:solidFill>
            <a:srgbClr val="D6EEF0"/>
          </a:solidFill>
          <a:ln w="63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4434840"/>
            <a:ext cx="11731752" cy="32004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471416"/>
            <a:ext cx="11338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PAS 2060  —  Carbon Neutrality Specification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80060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76C75"/>
                </a:solidFill>
                <a:latin typeface="Calibri"/>
              </a:rPr>
              <a:t>Governing Org: BSI Group, UK  |  Region: UK/Global (used in JP, KR, SG)  |  Industry: All industries declaring carbon neutrality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02920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  <a:latin typeface="Calibri"/>
              </a:rPr>
              <a:t>Process: Define subject scope → Measure GHG footprint → Carbon reduction plan → Offset with verified credits → 3rd-party verification → Annual re-verification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458968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444444"/>
                </a:solidFill>
                <a:latin typeface="Calibri"/>
              </a:rPr>
              <a:t>Examples: Fujitsu, Hitachi, Kia Motors, Cathay Pacific, Bain Capital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31 / 32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3B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End of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2834640"/>
            <a:ext cx="7616952" cy="54864"/>
          </a:xfrm>
          <a:prstGeom prst="rect">
            <a:avLst/>
          </a:prstGeom>
          <a:solidFill>
            <a:srgbClr val="17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6EEF0"/>
                </a:solidFill>
                <a:latin typeface="Calibri"/>
              </a:rPr>
              <a:t>Full data tables available in Annexures A – F  (Slides 22 – 31)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Tanishk Sati  ·  Sustainability Intern  ·  CSRWorks International  ·  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88888"/>
                </a:solidFill>
                <a:latin typeface="Calibri"/>
              </a:rPr>
              <a:t>32 / 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