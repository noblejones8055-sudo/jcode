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667512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02352"/>
            <a:ext cx="3657600" cy="274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NATURE IS THE NEXT FRONTIER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8521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Biodiversity as a
Business Imperative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8521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B7E4C7"/>
                </a:solidFill>
                <a:latin typeface="Calibri"/>
              </a:rPr>
              <a:t>GRI 101: Biodiversity 2024 — Strategic Compliance
and Nature-Positive Corporate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9C46A"/>
                </a:solidFill>
                <a:latin typeface="Calibri"/>
              </a:rPr>
              <a:t>Effective 1 January 2026  |  8 Mandatory Disclosures  |  Aligned with Kunming-Montreal GBF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4846320" cy="3474720"/>
          </a:xfrm>
          <a:prstGeom prst="rect">
            <a:avLst/>
          </a:prstGeom>
          <a:solidFill>
            <a:srgbClr val="1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280160"/>
            <a:ext cx="731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0" b="1" i="0">
                <a:solidFill>
                  <a:srgbClr val="E9C46A"/>
                </a:solidFill>
                <a:latin typeface="Georgia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20240"/>
            <a:ext cx="43891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FFFFFF"/>
                </a:solidFill>
                <a:latin typeface="Georgia"/>
              </a:rPr>
              <a:t>More than half of global GDP — $44 trillion — is moderately or highly dependent on nature and its services.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65760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2B788"/>
                </a:solidFill>
                <a:latin typeface="Calibri"/>
              </a:rPr>
              <a:t>— World Economic Forum,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2179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Strategic Advisory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2286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53896"/>
            <a:ext cx="384048" cy="329184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4173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9C46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721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Burning Platform — Why Biodiversity, Why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53896"/>
            <a:ext cx="384048" cy="329184"/>
          </a:xfrm>
          <a:prstGeom prst="rect">
            <a:avLst/>
          </a:prstGeom>
          <a:solidFill>
            <a:srgbClr val="1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4173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721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Regulatory Landscape 2026 — GRI 101 &amp; Beyond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11096"/>
            <a:ext cx="384048" cy="329184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8745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9C46A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9293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GRI 101 Architecture — The 8 Disclosures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11096"/>
            <a:ext cx="384048" cy="329184"/>
          </a:xfrm>
          <a:prstGeom prst="rect">
            <a:avLst/>
          </a:prstGeom>
          <a:solidFill>
            <a:srgbClr val="1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8745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293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Deep Dive: Each Disclosure &amp; Key Reporting Demands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68296"/>
            <a:ext cx="384048" cy="329184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3317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9C46A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3865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Materiality, Methodology &amp; Data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68296"/>
            <a:ext cx="384048" cy="329184"/>
          </a:xfrm>
          <a:prstGeom prst="rect">
            <a:avLst/>
          </a:prstGeom>
          <a:solidFill>
            <a:srgbClr val="1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3317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865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Linking Biodiversity to Climate &amp; Social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25496"/>
            <a:ext cx="384048" cy="329184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27889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9C46A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8437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Implementation Roadmap — From Gap to Green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25496"/>
            <a:ext cx="384048" cy="329184"/>
          </a:xfrm>
          <a:prstGeom prst="rect">
            <a:avLst/>
          </a:prstGeom>
          <a:solidFill>
            <a:srgbClr val="1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27889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8437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Business Case — Risks, Opportunities &amp; Investor Signal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82696"/>
            <a:ext cx="384048" cy="329184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32461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9C46A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3009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Strategic Recommendations — 5 Priorities to Act 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282696"/>
            <a:ext cx="384048" cy="329184"/>
          </a:xfrm>
          <a:prstGeom prst="rect">
            <a:avLst/>
          </a:prstGeom>
          <a:solidFill>
            <a:srgbClr val="1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246120"/>
            <a:ext cx="365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0098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Q&amp;A &amp; 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01  |  THE BURNING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Biodiversity. Why Now. Why It Cannot Wait.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43200" cy="41148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4320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E76F51"/>
                </a:solidFill>
                <a:latin typeface="Calibri"/>
              </a:rPr>
              <a:t>1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25603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species threatened
with extinction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12063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A8A8A"/>
                </a:solidFill>
                <a:latin typeface="Calibri"/>
              </a:rPr>
              <a:t>IPBES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71600"/>
            <a:ext cx="2743200" cy="41148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371600"/>
            <a:ext cx="2743200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E9C46A"/>
                </a:solidFill>
                <a:latin typeface="Calibri"/>
              </a:rPr>
              <a:t>$44 TRILLION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468880"/>
            <a:ext cx="25603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GDP dependent on
nature &amp; ecosystem
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512063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A8A8A"/>
                </a:solidFill>
                <a:latin typeface="Calibri"/>
              </a:rPr>
              <a:t>WEF 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371600"/>
            <a:ext cx="2743200" cy="41148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371600"/>
            <a:ext cx="27432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55448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52B788"/>
                </a:solidFill>
                <a:latin typeface="Calibri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468880"/>
            <a:ext cx="25603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decline in wildlife
populations since
1970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512063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A8A8A"/>
                </a:solidFill>
                <a:latin typeface="Calibri"/>
              </a:rPr>
              <a:t>WWF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3144" y="1371600"/>
            <a:ext cx="2743200" cy="41148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1371600"/>
            <a:ext cx="2743200" cy="73152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55448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2D8C5F"/>
                </a:solidFill>
                <a:latin typeface="Calibr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468880"/>
            <a:ext cx="25603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deadline to protect
30% of land &amp; ocean
(30x30 Target)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512063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A8A8A"/>
                </a:solidFill>
                <a:latin typeface="Calibri"/>
              </a:rPr>
              <a:t>KM-GBF 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69280"/>
            <a:ext cx="11521440" cy="82296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KEY INSIGHT:  Biodiversity loss is now classified as one of the top five global risks over the next decade by the World Economic Forum — alongside climate change, weapons of mass destruction and geoeconomic confrontation.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02  |  REGULATORY LANDSCAPE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Converging Frameworks — A New Disclosure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88920" cy="50292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8892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52B788"/>
                </a:solidFill>
                <a:latin typeface="Calibri"/>
              </a:rPr>
              <a:t>GRI 101
Biodiversity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468880"/>
            <a:ext cx="260604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E8DA"/>
                </a:solidFill>
                <a:latin typeface="Calibri"/>
              </a:rPr>
              <a:t>Effective Jan 2026. 8 mandatory disclosures covering policies, management, locations, drivers, ecosystem state &amp; services. The primary reporting standard addressed in this engagement.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788920" cy="50292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8892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087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9C46A"/>
                </a:solidFill>
                <a:latin typeface="Calibri"/>
              </a:rPr>
              <a:t>Kunming-Montreal
Global Biodiversity
Framework (KM-GBF)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468880"/>
            <a:ext cx="260604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E8DA"/>
                </a:solidFill>
                <a:latin typeface="Calibri"/>
              </a:rPr>
              <a:t>Adopted Dec 2022 (COP15). 2050 Vision: 'Living in harmony with nature'. 23 action targets for 2030 including 30×30 land/ocean protection and $700B in biodiversity finance.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371600"/>
            <a:ext cx="2788920" cy="50292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371600"/>
            <a:ext cx="2788920" cy="640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087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TNFD — Taskforce on
Nature-related Financial
Disclosures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468880"/>
            <a:ext cx="260604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E8DA"/>
                </a:solidFill>
                <a:latin typeface="Calibri"/>
              </a:rPr>
              <a:t>Beta v1.0 launched 2023. LEAP approach (Locate, Evaluate, Assess, Prepare). Already adopted voluntarily by 320+ organisations globally. Closely aligned with GRI 101.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1371600"/>
            <a:ext cx="2788920" cy="50292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371600"/>
            <a:ext cx="2788920" cy="6400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15087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7E4C7"/>
                </a:solidFill>
                <a:latin typeface="Calibri"/>
              </a:rPr>
              <a:t>EU CSRD &amp;
European
Sustainability Standards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468880"/>
            <a:ext cx="260604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E8DA"/>
                </a:solidFill>
                <a:latin typeface="Calibri"/>
              </a:rPr>
              <a:t>ESRS E4 (Biodiversity) requires disclosure on sites in/near protected areas, species affected and ecosystem services. Applies from 2025–2028 depending on company size.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03  |  GRI 101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Eight Disclosures — One Integrated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743200"/>
            <a:ext cx="2651760" cy="137160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788920"/>
            <a:ext cx="2468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GRI 101
Biodiversity
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926080" cy="5029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9C46A"/>
                </a:solidFill>
                <a:latin typeface="Calibri"/>
              </a:rPr>
              <a:t>101-1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623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Policies to halt &amp;
reverse biodiversity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8036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2926080" cy="502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71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2B788"/>
                </a:solidFill>
                <a:latin typeface="Calibri"/>
              </a:rPr>
              <a:t>101-2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1927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Management of
biodiversity impacts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4340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343400"/>
            <a:ext cx="292608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101-3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8231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Access &amp;
benefit-sharing (ABS)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62356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623560"/>
            <a:ext cx="2926080" cy="50292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150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7E4C7"/>
                </a:solidFill>
                <a:latin typeface="Calibri"/>
              </a:rPr>
              <a:t>101-4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06247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Identification of
biodiversity impacts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41732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417320"/>
            <a:ext cx="2926080" cy="5029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5087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9C46A"/>
                </a:solidFill>
                <a:latin typeface="Calibri"/>
              </a:rPr>
              <a:t>101-5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185623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Locations with
biodiversity impacts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88036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2880360"/>
            <a:ext cx="2926080" cy="502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971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2B788"/>
                </a:solidFill>
                <a:latin typeface="Calibri"/>
              </a:rPr>
              <a:t>101-6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31927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Direct drivers of
biodiversity loss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34340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4343400"/>
            <a:ext cx="2926080" cy="502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4348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101-7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78231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Changes to the
state of biodiversity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5623560"/>
            <a:ext cx="2926080" cy="114300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5623560"/>
            <a:ext cx="2926080" cy="50292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57150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7E4C7"/>
                </a:solidFill>
                <a:latin typeface="Calibri"/>
              </a:rPr>
              <a:t>101-8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06247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Ecosystem
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18288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8A8A8A"/>
                </a:solidFill>
                <a:latin typeface="Calibri"/>
              </a:rPr>
              <a:t>STRATEGIC
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18288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8A8A8A"/>
                </a:solidFill>
                <a:latin typeface="Calibri"/>
              </a:rPr>
              <a:t>SITE-LEVEL
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04  |  DEEP DIVE — POLICY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101-1: Policies  |  101-2: Management &amp; Mitigation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577840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9C46A"/>
                </a:solidFill>
                <a:latin typeface="Calibri"/>
              </a:rPr>
              <a:t>101-1  Policies to Halt &amp; Reverse Biodiversity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► Describe commitments / policies aligned with KM-GBF 2050 Goals &amp; 2030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► Scope must cover both OWN ACTIVITIES and BUSINESS RELATIONSHIPS (value chain)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74136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► Quantified goals &amp; targets with base year and scientific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32504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► Progress indicators: e.g. Ha restored, species monitored, % supply chain traced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90872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► Critical link: cite specific KM-GBF Targets (e.g. Target 3 for 30×30, Target 15 for 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9240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► Absence of a policy is reportable — state reason for omission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571500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715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8132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52B788"/>
                </a:solidFill>
                <a:latin typeface="Calibri"/>
              </a:rPr>
              <a:t>101-2  The Mitigation Hierarchy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65960"/>
            <a:ext cx="1188720" cy="7132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130552"/>
            <a:ext cx="115214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1. AVOID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075688"/>
            <a:ext cx="4069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Proactive design and siting to prevent
new negative biodiversity impacts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468880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E9C46A"/>
                </a:solidFill>
                <a:latin typeface="Calibri"/>
              </a:rPr>
              <a:t>◄ Highest Priority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807208"/>
            <a:ext cx="1188720" cy="7132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971800"/>
            <a:ext cx="115214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2. MINIMIZE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16936"/>
            <a:ext cx="4069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Reduce duration, intensity &amp; extent
of unavoidable impacts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648456"/>
            <a:ext cx="1188720" cy="7132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813048"/>
            <a:ext cx="115214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3. 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58184"/>
            <a:ext cx="4069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Rehabilitate degraded ecosystems at
or near sites of operation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489704"/>
            <a:ext cx="1188720" cy="713232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654296"/>
            <a:ext cx="115214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4. OFFSET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599432"/>
            <a:ext cx="4069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Compensate for residual impacts using
certified, in-kind biodiversity offsets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330952"/>
            <a:ext cx="1188720" cy="713232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5495544"/>
            <a:ext cx="1152144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5. TRANSFORM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440680"/>
            <a:ext cx="4069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Systemic change &amp; additional conservation
actions beyond footprint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83387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E9C46A"/>
                </a:solidFill>
                <a:latin typeface="Calibri"/>
              </a:rPr>
              <a:t>◄ Lowest 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04  |  DEEP DIVE — ABS &amp; IMPACT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101-3: Access &amp; Benefit-Sharing  |  101-4: Identification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577840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6F51"/>
                </a:solidFill>
                <a:latin typeface="Calibri"/>
              </a:rPr>
              <a:t>101-3  Access &amp; Benefit-Sharing (ABS)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What is ABS?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212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Legal framework under the Nagoya Protocol ensuring equitable sharing of benefits arising from use of genetic resources (plants, animals, microbes).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Disclosure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5212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Describe compliance process with ABS laws. Report voluntary actions taken beyond legal minimum. Disclose activities on the High Seas (Areas Beyond National Jurisdiction).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5212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Non-compliance carries legal and reputational risk — especially for pharma, biotech, food &amp; beverage, cosmetics sectors. Indigenous communities are key stakeholders.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571500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715000" cy="73152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8132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B7E4C7"/>
                </a:solidFill>
                <a:latin typeface="Calibri"/>
              </a:rPr>
              <a:t>101-4  Identification of Biodiversity Impacts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7E4C7"/>
                </a:solidFill>
                <a:latin typeface="Calibri"/>
              </a:rPr>
              <a:t>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50592"/>
            <a:ext cx="53949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Explain HOW the organisation determined which sites and supply-chain products have the most significant impacts. Define thresholds used.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2044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7E4C7"/>
                </a:solidFill>
                <a:latin typeface="Calibri"/>
              </a:rPr>
              <a:t>Leading Tools &amp; Data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13632"/>
            <a:ext cx="53949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• ENCORE (Natural Capital Finance Alliance)
• SBTN (Science Based Targets for Nature)
• IUCN Red List &amp; CITES databases
• WWF Biodiversity Risk Filter
• TNFD LEAP Framework
• Satellite / geospatial overlays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8348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7E4C7"/>
                </a:solidFill>
                <a:latin typeface="Calibri"/>
              </a:rPr>
              <a:t>Data Quality Disclosure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376672"/>
            <a:ext cx="53949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0F4F1"/>
                </a:solidFill>
                <a:latin typeface="Calibri"/>
              </a:rPr>
              <a:t>Distinguish primary vs secondary/modelled data. Report plans to improve data accuracy over time — a key analyst and investor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04  |  DEEP DIVE — LOCATIONS &amp; DIRECT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101-5: Location Impacts  |  101-6: The Five Direct Drivers of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420624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420624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9C46A"/>
                </a:solidFill>
                <a:latin typeface="Calibri"/>
              </a:rPr>
              <a:t>101-5  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A8A8A"/>
                </a:solidFill>
                <a:latin typeface="Calibri"/>
              </a:rPr>
              <a:t>Per-site data required: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In / Near ecologically sensitive areas?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Classify per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Distance to protected area (km)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7919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If site is 'Near'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26664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Areas of biodiversity importance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2666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e.g. KBA, IBA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74136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High ecosystem integrity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7413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Primary habitat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21608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Rapidly declining ecosystem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2160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Degradation hotspots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High physical water risk areas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690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WRI Aqueduct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16552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Services to IP &amp; local communities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1655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Free, Prior, Informed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64024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• Size of eco-sensitive area (Ha)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7640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B7E4C7"/>
                </a:solidFill>
                <a:latin typeface="Calibri"/>
              </a:rPr>
              <a:t>Quantified boundary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371600"/>
            <a:ext cx="713232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1371600"/>
            <a:ext cx="713232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481328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52B788"/>
                </a:solidFill>
                <a:latin typeface="Calibri"/>
              </a:rPr>
              <a:t>101-6  Five Direct Drivers of Biodiversity Loss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011680"/>
            <a:ext cx="1371600" cy="7498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219456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0574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Land / Sea Use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95728"/>
            <a:ext cx="5257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Natural ecosystem converted (Ha), cut-off date, ecosystem type before &amp; after. Intensive use conversion also reported.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889504"/>
            <a:ext cx="1371600" cy="7498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072384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#2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935224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Resource Over-exploitation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73552"/>
            <a:ext cx="5257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Wild species harvested — type, quantity, extinction risk classification (IUCN Red List). Include fisheries and timber.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767328"/>
            <a:ext cx="1371600" cy="7498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950208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#3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813048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Climate Change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151376"/>
            <a:ext cx="5257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Cross-reference to GHG data (GRI 305-7 air pollutants). Report water withdrawal/consumption (ML) per site.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4645152"/>
            <a:ext cx="1371600" cy="74980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482803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#4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9087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7E4C7"/>
                </a:solidFill>
                <a:latin typeface="Calibri"/>
              </a:rPr>
              <a:t>Pollution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29200"/>
            <a:ext cx="5257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Pollutants by type and quantity. Cross-reference GRI 303 (water) and GRI 306 (spills). Nutrient loading key metric.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5522976"/>
            <a:ext cx="1371600" cy="7498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2040" y="5705856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#5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568696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Invasive Alien Species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907024"/>
            <a:ext cx="5257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How IAS were introduced (pathway analysis). Report prevention and control measures taken.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04  |  DEEP DIVE — STATE OF BIODIVERSITY &amp; ECOSYSTEM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101-7: State Changes  |  101-8: Ecosystem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577840" cy="640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6F51"/>
                </a:solidFill>
                <a:latin typeface="Calibri"/>
              </a:rPr>
              <a:t>101-7  Changes to the State of Biodiversity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What Must Be Reported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For each site: ecosystem type, size (Ha), and condition — comparing BASE YEAR vs CURRENT PERIOD. Multiple ecosystem types per site require separate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Ecosystem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Ha of affected ecosystem. Enables tracking shrinkage or recovery over time. Use satellite imagery, field surveys or modelled estimates with appropriate caveats.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Ecosystem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90288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Qualitative or quantitative assessment (e.g. Habitat Condition Score, BHM, IBAT). Must state the method used. Trajectory (improving / stable / declining) is key.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Data 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87568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Specify whether data is primary (field) or secondary (modelled/national databases). Report known limitations. Auditor comfort requires methodology documentation.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71500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371600"/>
            <a:ext cx="5715000" cy="6400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81328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B7E4C7"/>
                </a:solidFill>
                <a:latin typeface="Calibri"/>
              </a:rPr>
              <a:t>101-8  Ecosystem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A8A8A"/>
                </a:solidFill>
                <a:latin typeface="Calibri"/>
              </a:rPr>
              <a:t>Three Service Categories: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77440"/>
            <a:ext cx="228600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423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Provisioning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6148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Food, water, raw materials, genetic resources, medicinal plants. Directly tied to supply chain and ABS.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20440"/>
            <a:ext cx="228600" cy="7772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566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Regulating &amp;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90448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Climate regulation, water purification, flood protection, pollination, carbon sequestration, disease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663440"/>
            <a:ext cx="22860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Cultural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4748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0F4F1"/>
                </a:solidFill>
                <a:latin typeface="Calibri"/>
              </a:rPr>
              <a:t>Recreation, tourism, spiritual, educational. Often critical for local community stakeholder engagement.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9893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E9C46A"/>
                </a:solidFill>
                <a:latin typeface="Calibri"/>
              </a:rPr>
              <a:t>Also Required: Identify BENEFICIARIES (and numbers where known) and explain HOW the service and beneficiaries are/could be affected. This is the highest-disclosure-maturity element.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05  |  MATERIALITY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Rigour Gap — Where Most Organisations Fall 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331720" cy="41148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90472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9C46A"/>
                </a:solidFill>
                <a:latin typeface="Calibri"/>
              </a:rPr>
              <a:t>ELEMENT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20"/>
            <a:ext cx="2834640" cy="41148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90472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COMMON PITFALL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417320"/>
            <a:ext cx="3017520" cy="41148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490472"/>
            <a:ext cx="2880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BEST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417320"/>
            <a:ext cx="3108960" cy="41148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149047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B7E4C7"/>
                </a:solidFill>
                <a:latin typeface="Calibri"/>
              </a:rPr>
              <a:t>MATURITY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19"/>
            <a:ext cx="233172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874519"/>
            <a:ext cx="283464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1874519"/>
            <a:ext cx="301752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1874519"/>
            <a:ext cx="310896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1965959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Materiality
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1965959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76F51"/>
                </a:solidFill>
                <a:latin typeface="Calibri"/>
              </a:rPr>
              <a:t>Binary yes/no
determination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1965959"/>
            <a:ext cx="2880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Quantified scoring against proximity to protected areas, sector dependencies &amp; regulatory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075687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9C46A"/>
                </a:solidFill>
                <a:latin typeface="Calibri"/>
              </a:rPr>
              <a:t>★★★★★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43199"/>
            <a:ext cx="233172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2743199"/>
            <a:ext cx="283464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0" y="2743199"/>
            <a:ext cx="301752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2743199"/>
            <a:ext cx="310896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834639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Site Boundary
Definition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2834639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76F51"/>
                </a:solidFill>
                <a:latin typeface="Calibri"/>
              </a:rPr>
              <a:t>Operational fence-line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2834639"/>
            <a:ext cx="2880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TNFD LEAP 'Locate' phase — expand to area of influence, upstream supply sheds, downstream water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944367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9C46A"/>
                </a:solidFill>
                <a:latin typeface="Calibri"/>
              </a:rPr>
              <a:t>★★★★☆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11879"/>
            <a:ext cx="233172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3611879"/>
            <a:ext cx="283464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3611879"/>
            <a:ext cx="301752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0" y="3611879"/>
            <a:ext cx="310896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3703319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Ecosystem
Condition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6352" y="3703319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76F51"/>
                </a:solidFill>
                <a:latin typeface="Calibri"/>
              </a:rPr>
              <a:t>Qualitative narrative
('good', 'fair', 'poor')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2" y="3703319"/>
            <a:ext cx="2880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Scored metric (e.g. BHM, HII) with temporal baseline. Must state measurement methodology.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813047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9C46A"/>
                </a:solidFill>
                <a:latin typeface="Calibri"/>
              </a:rPr>
              <a:t>★★★★★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80559"/>
            <a:ext cx="233172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480559"/>
            <a:ext cx="283464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0" y="4480559"/>
            <a:ext cx="301752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78240" y="4480559"/>
            <a:ext cx="3108960" cy="822960"/>
          </a:xfrm>
          <a:prstGeom prst="rect">
            <a:avLst/>
          </a:prstGeom>
          <a:solidFill>
            <a:srgbClr val="1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4571999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Supply Chain
Traceability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6352" y="4571999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76F51"/>
                </a:solidFill>
                <a:latin typeface="Calibri"/>
              </a:rPr>
              <a:t>Tier-1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2432" y="4571999"/>
            <a:ext cx="2880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Identify high-impact commodities (soy, palm, beef, timber, cocoa) to country-of-origin minimum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4681727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9C46A"/>
                </a:solidFill>
                <a:latin typeface="Calibri"/>
              </a:rPr>
              <a:t>★★★☆☆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349239"/>
            <a:ext cx="233172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0" y="5349239"/>
            <a:ext cx="283464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0" y="5349239"/>
            <a:ext cx="301752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78240" y="5349239"/>
            <a:ext cx="3108960" cy="822960"/>
          </a:xfrm>
          <a:prstGeom prst="rect">
            <a:avLst/>
          </a:prstGeom>
          <a:solidFill>
            <a:srgbClr val="16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5440679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
Verification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16352" y="5440679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76F51"/>
                </a:solidFill>
                <a:latin typeface="Calibri"/>
              </a:rPr>
              <a:t>No third-party check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42432" y="5440679"/>
            <a:ext cx="2880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Independent verification against SBTN, IUCN or TNFD. Limited assurance at minimum for high-material sites.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1392" y="5550407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9C46A"/>
                </a:solidFill>
                <a:latin typeface="Calibri"/>
              </a:rPr>
              <a:t>★★★★☆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06  |  THE NATURE-CLIMATE-PEOPLE 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Biodiversity Does Not Exist in Isolation — Integrating GRI 101 with Your ESG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26517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BIODIVERSITY
(GRI 101)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20240"/>
            <a:ext cx="3200400" cy="2286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6517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CLIMATE
(GRI 305 / TCFD)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4023360"/>
            <a:ext cx="3200400" cy="2286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663440"/>
            <a:ext cx="26517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SOCIAL
(GRI 411 / UNGP)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03120"/>
            <a:ext cx="2011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Nature-based
Climate Solutions
(NbS)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4048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Indigenous
Rights &amp; 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80"/>
            <a:ext cx="1828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D1F16"/>
                </a:solidFill>
                <a:latin typeface="Calibri"/>
              </a:rPr>
              <a:t>Water Stress
&amp; Ecosystem
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576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D1F16"/>
                </a:solidFill>
                <a:latin typeface="Calibri"/>
              </a:rPr>
              <a:t>TRIPLE
NEXUS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371600"/>
            <a:ext cx="411480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411480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508760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52B788"/>
                </a:solidFill>
                <a:latin typeface="Calibri"/>
              </a:rPr>
              <a:t>Integration Imperatives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011680"/>
            <a:ext cx="3794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▸  Cross-reference GRI 305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359152"/>
            <a:ext cx="3794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Report air pollutants (305-7) per site in your 101-6 drivers — same data point, dual disclosure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063240"/>
            <a:ext cx="3794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▸  Cross-reference GRI 303 &amp; 306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410712"/>
            <a:ext cx="3794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Water withdrawal/consumption and spills are direct biodiversity drivers. Eliminate double-handling.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114800"/>
            <a:ext cx="3794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▸  Cross-reference GRI 411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462272"/>
            <a:ext cx="3794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Rights of Indigenous Peoples apply directly to ABS compliance and ecosystem service beneficiary identification.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5166360"/>
            <a:ext cx="3794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▸  TCFD / TNFD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5513832"/>
            <a:ext cx="3794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Physical and transition risks map to both climate and biodiversity. Combined scenario analysis is best practice.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07  | 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From Compliance Gap to Nature-Positive — A 3-Phase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657600" cy="521208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657600" cy="10058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PHASE 1
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E9C46A"/>
                </a:solidFill>
                <a:latin typeface="Calibri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Conduct biodiversity materiality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Map all operational sites vs protected areas (IBAT / TNFD LEAP)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Audit existing policies for KM-GBF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Establish data governance and reporting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Define site list for 101-5 through 101-8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064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Baseline ecosystem condition per site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371600"/>
            <a:ext cx="3657600" cy="521208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371600"/>
            <a:ext cx="3657600" cy="10058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4173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PHASE 2
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402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52B788"/>
                </a:solidFill>
                <a:latin typeface="Calibri"/>
              </a:rPr>
              <a:t>Months 4–8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06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Develop / update biodiversity policy (101-1)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2461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Implement mitigation hierarchy per site (101-2)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88620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Conduct ABS compliance review (101-3)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8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Engage supply chain — trace high-impact commodities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16636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Collect direct driver data per site (101-6)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8064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Engage ecosystem service beneficiaries (101-8)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1371600"/>
            <a:ext cx="3657600" cy="521208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1371600"/>
            <a:ext cx="3657600" cy="10058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4173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D1F16"/>
                </a:solidFill>
                <a:latin typeface="Calibri"/>
              </a:rPr>
              <a:t>PHASE 3
Report &amp; 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402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E76F51"/>
                </a:solidFill>
                <a:latin typeface="Calibri"/>
              </a:rPr>
              <a:t>Months 9–12+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06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Compile GRI 101 disclosure narrative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Obtain limited assurance on high-material sites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88620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Set science-based targets (SBTN framework)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52628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Integrate into Annual / Sustainability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6636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Establish year-on-year tracking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8064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0F4F1"/>
                </a:solidFill>
                <a:latin typeface="Calibri"/>
              </a:rPr>
              <a:t>◉  Engage investors &amp; ratings agencies proactively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3383280"/>
            <a:ext cx="182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E9C46A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383280"/>
            <a:ext cx="182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E9C46A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08  |  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Risks, Opportunities &amp; the Investor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0332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03320" cy="640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RISKS OF INACTION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⚠  Regulatory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GRI 101 non-compliance; EU CSRD penalties; stranded assets in nature-dependent sectors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⚠  Physical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Supply chain disruption, water insecurity, crop failure from ecosystem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⚠  Reputational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8736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Greenwashing litigation, activist investor pressure, consumer backlash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⚠  Financial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TNFD adoption by banks: biodiversity risk embedded in loan covenants by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⚠  Legal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2472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Nagoya Protocol ABS violations; indigenous community legal challenges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371600"/>
            <a:ext cx="370332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371600"/>
            <a:ext cx="370332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481328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52B788"/>
                </a:solidFill>
                <a:latin typeface="Calibri"/>
              </a:rPr>
              <a:t>OPPORTUNITIES FOR LEADERS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01168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✦  Green Financing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5000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$700B annual biodiversity finance gap = enormous opportunity for NbS-linked bonds and blended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88036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✦  Nature-based 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1868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Carbon + biodiversity credits (stacked), green commodities premiums, eco-certification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74904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✦  Cost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08736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Ecosystem restoration reduces water treatment costs, disaster risk and input volatility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61772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✦  Investor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95604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ESG-oriented AUM now &gt;$35T; TNFD-aligned companies attract lower cost of capital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486400"/>
            <a:ext cx="3429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✦  Competitive Moat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824728"/>
            <a:ext cx="3429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Early movers shape regulation, set industry standards and secure secure market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371600"/>
            <a:ext cx="3657600" cy="51206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371600"/>
            <a:ext cx="365760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481328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9C46A"/>
                </a:solidFill>
                <a:latin typeface="Calibri"/>
              </a:rPr>
              <a:t>INVESTOR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0116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320+ organisations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359152"/>
            <a:ext cx="33832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already adopting TNFD voluntary disclosures as of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88036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MSCI &amp; Sustainalytics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27832"/>
            <a:ext cx="33832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now scoring nature-related risks in company ratings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74904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CDP Nature Module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096512"/>
            <a:ext cx="33832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live since 2023 — aligns directly with GRI 101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Science Based Targets
for Nature (SBTN)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65192"/>
            <a:ext cx="33832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investor-grade targets expected as standard by 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48640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EU Taxonomy
Nature Screen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833872"/>
            <a:ext cx="33832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biodiversity DNSH criteria now applicable — affects green bond issuance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09  | 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 Priorities to Build a Nature-Positive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03320" cy="233172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03320" cy="54864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527048"/>
            <a:ext cx="50292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45336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D1F1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581912"/>
            <a:ext cx="2788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9C46A"/>
                </a:solidFill>
                <a:latin typeface="Calibri"/>
              </a:rPr>
              <a:t>Commit at Board Level —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75688"/>
            <a:ext cx="3429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Biodiversity must be a Board-level agenda item by 2026. Appoint a Nature Officer or integrate into the CRO / CSO remit. Set a public, science-aligned nature-positive commitment with a 2030 milestone.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8516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1">
                <a:solidFill>
                  <a:srgbClr val="E76F51"/>
                </a:solidFill>
                <a:latin typeface="Calibri"/>
              </a:rPr>
              <a:t>URGENCY: Immediate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1700" y="3246120"/>
            <a:ext cx="18516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8A8A8A"/>
                </a:solidFill>
                <a:latin typeface="Calibri"/>
              </a:rPr>
              <a:t>GRI 101-1 | KM-GBF Target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417320"/>
            <a:ext cx="3703320" cy="233172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417320"/>
            <a:ext cx="370332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7" y="1527048"/>
            <a:ext cx="502920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1545336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D1F16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7" y="1581912"/>
            <a:ext cx="2788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2B788"/>
                </a:solidFill>
                <a:latin typeface="Calibri"/>
              </a:rPr>
              <a:t>Map &amp; Baseline Your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075688"/>
            <a:ext cx="3429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Run TNFD LEAP for all operations and top-50 supply chain partners. Produce a heatmap of nature risk by site. This is the indispensable foundation — without it, all other disclosures are guesswork.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3246120"/>
            <a:ext cx="18516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1">
                <a:solidFill>
                  <a:srgbClr val="E76F51"/>
                </a:solidFill>
                <a:latin typeface="Calibri"/>
              </a:rPr>
              <a:t>URGENCY: Q1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9339" y="3246120"/>
            <a:ext cx="18516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8A8A8A"/>
                </a:solidFill>
                <a:latin typeface="Calibri"/>
              </a:rPr>
              <a:t>GRI 101-4, 101-5, 101-6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8" y="1417320"/>
            <a:ext cx="3703320" cy="233172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8" y="1417320"/>
            <a:ext cx="37033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5046" y="1527048"/>
            <a:ext cx="502920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0" y="1545336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D1F16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6" y="1581912"/>
            <a:ext cx="2788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Embed the Mitigation Hierarchy in Capital Allocation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2075688"/>
            <a:ext cx="3429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Make 'Avoid first, offset last' a binding requirement for any CapEx affecting land, water or marine ecosystems. Establish a biodiversity impact screening gate equivalent to your TCFD climate risk gate.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3246120"/>
            <a:ext cx="18516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1">
                <a:solidFill>
                  <a:srgbClr val="E76F51"/>
                </a:solidFill>
                <a:latin typeface="Calibri"/>
              </a:rPr>
              <a:t>URGENCY: Q2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6978" y="3246120"/>
            <a:ext cx="18516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8A8A8A"/>
                </a:solidFill>
                <a:latin typeface="Calibri"/>
              </a:rPr>
              <a:t>GRI 101-2 | TNFD LEAP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31920"/>
            <a:ext cx="5623560" cy="26060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931920"/>
            <a:ext cx="5623560" cy="54864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" y="4041648"/>
            <a:ext cx="502920" cy="50292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4059936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D1F16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4096512"/>
            <a:ext cx="4709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7E4C7"/>
                </a:solidFill>
                <a:latin typeface="Calibri"/>
              </a:rPr>
              <a:t>Trace and Transform Your Supply 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53492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Prioritise high-impact commodities (soy, palm, beef, timber, cocoa, aquaculture). Achieve country-of-origin traceability minimum. Engage top-20 suppliers in joint nature-positive transition plans.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28117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1">
                <a:solidFill>
                  <a:srgbClr val="E76F51"/>
                </a:solidFill>
                <a:latin typeface="Calibri"/>
              </a:rPr>
              <a:t>URGENCY: Q3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31820" y="6035040"/>
            <a:ext cx="28117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8A8A8A"/>
                </a:solidFill>
                <a:latin typeface="Calibri"/>
              </a:rPr>
              <a:t>GRI 101-6-e | Table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931920"/>
            <a:ext cx="5623560" cy="260604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3931920"/>
            <a:ext cx="5623560" cy="54864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19088" y="4041648"/>
            <a:ext cx="50292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059936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D1F16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096512"/>
            <a:ext cx="4709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9C46A"/>
                </a:solidFill>
                <a:latin typeface="Calibri"/>
              </a:rPr>
              <a:t>Report With Rigour &amp; Seek Assurance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590288"/>
            <a:ext cx="53492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0F4F1"/>
                </a:solidFill>
                <a:latin typeface="Calibri"/>
              </a:rPr>
              <a:t>Publish your first GRI 101-aligned disclosure with limited third-party assurance on high-material sites. Integrate with CDP Nature, TNFD and ESRS E4. Set year-on-year improvement targets publicly.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035040"/>
            <a:ext cx="28117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1">
                <a:solidFill>
                  <a:srgbClr val="E76F51"/>
                </a:solidFill>
                <a:latin typeface="Calibri"/>
              </a:rPr>
              <a:t>URGENCY: Annual Report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1140" y="6035040"/>
            <a:ext cx="28117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8A8A8A"/>
                </a:solidFill>
                <a:latin typeface="Calibri"/>
              </a:rPr>
              <a:t>GRI 101-1 to 101-8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274320" y="1645920"/>
            <a:ext cx="128016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0" b="1" i="0">
                <a:solidFill>
                  <a:srgbClr val="255C3D"/>
                </a:solidFill>
                <a:latin typeface="Calibri"/>
              </a:rPr>
              <a:t>NATURE
POSITIVE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063240"/>
            <a:ext cx="67025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4575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1">
                <a:solidFill>
                  <a:srgbClr val="FFFFFF"/>
                </a:solidFill>
                <a:latin typeface="Georgia"/>
              </a:rPr>
              <a:t>The question is no longer whether to act.
The question is whether you act first — or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749039"/>
            <a:ext cx="57881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E9C46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76169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B7E4C7"/>
                </a:solidFill>
                <a:latin typeface="Calibri"/>
              </a:rPr>
              <a:t>GRI 101: Biodiversity 2024  |  Effective 1 January 2026
Strategic Advisory Engagement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601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A8A8A"/>
                </a:solidFill>
                <a:latin typeface="Calibri"/>
              </a:rPr>
              <a:t>This presentation is prepared for discussion purposes. All data sourced from GRI 101: Biodiversity 2024,
WEF Global Risks Report 2024, IPBES 2019, WWF Living Planet Report 2022, TNFD v1.0.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922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